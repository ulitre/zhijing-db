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543f774ce44bc" /><Relationship Type="http://schemas.openxmlformats.org/officeDocument/2006/relationships/extended-properties" Target="/docProps/app.xml" Id="R1c60b421207449f9" /><Relationship Type="http://schemas.openxmlformats.org/officeDocument/2006/relationships/officeDocument" Target="/ppt/presentation.xml" Id="Rce6261bce253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0dbfa4251d4148"/>
  </p:sldMasterIdLst>
  <p:notesMasterIdLst>
    <p:notesMasterId xmlns:r="http://schemas.openxmlformats.org/officeDocument/2006/relationships" r:id="R9ff1a8d8fc63496d"/>
  </p:notesMasterIdLst>
  <p:sldIdLst>
    <p:sldId xmlns:r="http://schemas.openxmlformats.org/officeDocument/2006/relationships" id="256" r:id="R6f06354b65ab44bf"/>
    <p:sldId xmlns:r="http://schemas.openxmlformats.org/officeDocument/2006/relationships" id="257" r:id="R63baeaee07e14264"/>
    <p:sldId xmlns:r="http://schemas.openxmlformats.org/officeDocument/2006/relationships" id="258" r:id="R85b80b22342d4c76"/>
    <p:sldId xmlns:r="http://schemas.openxmlformats.org/officeDocument/2006/relationships" id="259" r:id="Rd534b48ee4334df8"/>
    <p:sldId xmlns:r="http://schemas.openxmlformats.org/officeDocument/2006/relationships" id="260" r:id="R35cec15ad0c7476f"/>
    <p:sldId xmlns:r="http://schemas.openxmlformats.org/officeDocument/2006/relationships" id="261" r:id="Rcb8b8e59a1c04e48"/>
    <p:sldId xmlns:r="http://schemas.openxmlformats.org/officeDocument/2006/relationships" id="262" r:id="R1d40b1ee400842f4"/>
    <p:sldId xmlns:r="http://schemas.openxmlformats.org/officeDocument/2006/relationships" id="263" r:id="Recccfc9ca7ad45de"/>
    <p:sldId xmlns:r="http://schemas.openxmlformats.org/officeDocument/2006/relationships" id="264" r:id="R15cf08a87413459f"/>
    <p:sldId xmlns:r="http://schemas.openxmlformats.org/officeDocument/2006/relationships" id="265" r:id="Rf8fbc649fa4e4723"/>
    <p:sldId xmlns:r="http://schemas.openxmlformats.org/officeDocument/2006/relationships" id="266" r:id="Rba9a36da7ae341c4"/>
    <p:sldId xmlns:r="http://schemas.openxmlformats.org/officeDocument/2006/relationships" id="267" r:id="R586785c29b8449c2"/>
    <p:sldId xmlns:r="http://schemas.openxmlformats.org/officeDocument/2006/relationships" id="268" r:id="R11a2e6ed971745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a37a7ae79c4f25" /><Relationship Type="http://schemas.openxmlformats.org/officeDocument/2006/relationships/slideMaster" Target="/ppt/slideMasters/slideMaster1.xml" Id="Rc40dbfa4251d4148" /><Relationship Type="http://schemas.openxmlformats.org/officeDocument/2006/relationships/notesMaster" Target="/ppt/notesMasters/notesMaster1.xml" Id="R9ff1a8d8fc63496d" /><Relationship Type="http://schemas.openxmlformats.org/officeDocument/2006/relationships/presProps" Target="/ppt/presProps.xml" Id="R38ea699c9df647c5" /><Relationship Type="http://schemas.openxmlformats.org/officeDocument/2006/relationships/tableStyles" Target="/ppt/tableStyles.xml" Id="R6e2baad826274fbb" /><Relationship Type="http://schemas.openxmlformats.org/officeDocument/2006/relationships/slide" Target="/ppt/slides/slide1.xml" Id="R6f06354b65ab44bf" /><Relationship Type="http://schemas.openxmlformats.org/officeDocument/2006/relationships/slide" Target="/ppt/slides/slide2.xml" Id="R63baeaee07e14264" /><Relationship Type="http://schemas.openxmlformats.org/officeDocument/2006/relationships/slide" Target="/ppt/slides/slide3.xml" Id="R85b80b22342d4c76" /><Relationship Type="http://schemas.openxmlformats.org/officeDocument/2006/relationships/slide" Target="/ppt/slides/slide4.xml" Id="Rd534b48ee4334df8" /><Relationship Type="http://schemas.openxmlformats.org/officeDocument/2006/relationships/slide" Target="/ppt/slides/slide5.xml" Id="R35cec15ad0c7476f" /><Relationship Type="http://schemas.openxmlformats.org/officeDocument/2006/relationships/slide" Target="/ppt/slides/slide6.xml" Id="Rcb8b8e59a1c04e48" /><Relationship Type="http://schemas.openxmlformats.org/officeDocument/2006/relationships/slide" Target="/ppt/slides/slide7.xml" Id="R1d40b1ee400842f4" /><Relationship Type="http://schemas.openxmlformats.org/officeDocument/2006/relationships/slide" Target="/ppt/slides/slide8.xml" Id="Recccfc9ca7ad45de" /><Relationship Type="http://schemas.openxmlformats.org/officeDocument/2006/relationships/slide" Target="/ppt/slides/slide9.xml" Id="R15cf08a87413459f" /><Relationship Type="http://schemas.openxmlformats.org/officeDocument/2006/relationships/slide" Target="/ppt/slides/slide10.xml" Id="Rf8fbc649fa4e4723" /><Relationship Type="http://schemas.openxmlformats.org/officeDocument/2006/relationships/slide" Target="/ppt/slides/slide11.xml" Id="Rba9a36da7ae341c4" /><Relationship Type="http://schemas.openxmlformats.org/officeDocument/2006/relationships/slide" Target="/ppt/slides/slide12.xml" Id="R586785c29b8449c2" /><Relationship Type="http://schemas.openxmlformats.org/officeDocument/2006/relationships/slide" Target="/ppt/slides/slide13.xml" Id="R11a2e6ed971745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5aaca841534e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3d289a17c146e8" /><Relationship Type="http://schemas.openxmlformats.org/officeDocument/2006/relationships/notesMaster" Target="/ppt/notesMasters/notesMaster1.xml" Id="R14136b993ce64f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c36f89a6514e2f" /><Relationship Type="http://schemas.openxmlformats.org/officeDocument/2006/relationships/notesMaster" Target="/ppt/notesMasters/notesMaster1.xml" Id="R65b95c32f47c48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9b41701e2b48c7" /><Relationship Type="http://schemas.openxmlformats.org/officeDocument/2006/relationships/notesMaster" Target="/ppt/notesMasters/notesMaster1.xml" Id="R78b5c774366245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f1251bc02e4c0c" /><Relationship Type="http://schemas.openxmlformats.org/officeDocument/2006/relationships/notesMaster" Target="/ppt/notesMasters/notesMaster1.xml" Id="R6370bf04e1084d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67aa09a248457a" /><Relationship Type="http://schemas.openxmlformats.org/officeDocument/2006/relationships/notesMaster" Target="/ppt/notesMasters/notesMaster1.xml" Id="R9722ece8ff0645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d918d371464a24" /><Relationship Type="http://schemas.openxmlformats.org/officeDocument/2006/relationships/notesMaster" Target="/ppt/notesMasters/notesMaster1.xml" Id="R364bab6fcf0349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fad2763fce4393" /><Relationship Type="http://schemas.openxmlformats.org/officeDocument/2006/relationships/notesMaster" Target="/ppt/notesMasters/notesMaster1.xml" Id="R794e4629a43240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61b9befcf84732" /><Relationship Type="http://schemas.openxmlformats.org/officeDocument/2006/relationships/notesMaster" Target="/ppt/notesMasters/notesMaster1.xml" Id="R691b8d92022f47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def45a38f64df0" /><Relationship Type="http://schemas.openxmlformats.org/officeDocument/2006/relationships/notesMaster" Target="/ppt/notesMasters/notesMaster1.xml" Id="R13c472e12e7647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82e2d2be6e4cbb" /><Relationship Type="http://schemas.openxmlformats.org/officeDocument/2006/relationships/notesMaster" Target="/ppt/notesMasters/notesMaster1.xml" Id="R720af835679646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9d809a459b4acf" /><Relationship Type="http://schemas.openxmlformats.org/officeDocument/2006/relationships/notesMaster" Target="/ppt/notesMasters/notesMaster1.xml" Id="Rcf8fc69ae6294f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7b88a7f90b4abd" /><Relationship Type="http://schemas.openxmlformats.org/officeDocument/2006/relationships/notesMaster" Target="/ppt/notesMasters/notesMaster1.xml" Id="Rd50e3905da9a4d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1c8b3a4ce140c8" /><Relationship Type="http://schemas.openxmlformats.org/officeDocument/2006/relationships/notesMaster" Target="/ppt/notesMasters/notesMaster1.xml" Id="R024aca4a82e145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大家好，我汇报的项目是知径 DB。它面向数据库原理课程，把学习画像、知识断点、动态路径、资源生成和安全实操放进同一条学习流程。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资料依据：项目需求与产品说明；封面主视觉由 ImageGen 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数据库课程同时包含概念辨析、符号推理和 SQL 实操。同一份复习材料不能区分候选键的概念混淆、闭包推导不熟和执行计划经验不足。项目用三种匿名画像演示这些差异如何改变路径与资源形式。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资料依据：docs/01-需求与产品说明.md；packages/agents/src/index.ts。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系统先读取学习画像，再用诊断证据更新掌握度。路径算法按弱项和前置依赖排序，资源代理生成讲解、图解、练习或 SQL 任务。完成后再次收集证据，形成下一轮建议。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资料依据：docs/01-需求与产品说明.md；packages/agents/src/index.ts。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左侧是基础薄弱型，系统先补关系模型和键约束。中间的应试巩固型重点在函数依赖和范式证明。右侧实践型已有较好的 SQL 查询基础，更适合事务和索引实操。所有分数来自预设账号，仅用于演示个性化机制。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资料依据：packages/agents/src/index.ts；docs/04-用户使用手册.md。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课程图谱由九个模块组成，分别包含 4、5、7、5、5、6、4、5、4 个节点，共 45 个。节点数据保存在 course-data 包中；前置关系既用于路径排序，也用于资源解释。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资料依据：packages/course-data/src/index.ts；docs/02-技术架构.md。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证据分采用 60%、15%、15%、10% 四个权重；掌握度以 70% 旧值和 30% 新证据更新。路径函数把 80 以下的节点作为候选，按掌握度从低到高排序，并递归加入前置节点。阈值属于产品规则，尚未用真实教学试验验证。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资料依据：packages/agents/src/index.ts；docs/01-需求与产品说明.md。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代码中定义 12 个代理角色。资源流程按固定状态图执行，具体资源类型会调用对应生成角色，再进入 ReviewAgent。这里的“12 个智能体”指代码中的职责单元，不是 12 个独立大模型服务。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资料依据：packages/agents/src/index.ts；apps/api/src/services/workflow.ts。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客户端使用 Expo Router，后端使用 Hono。API 请求通过 Zod 校验，共享课程和智能体包。模型调用只在服务器端。SQL 教学环境由 sql.js Worker 执行，与生产业务数据库隔离。生产 API 和静态 Web 分别部署在 Railway 与 EAS Hosting。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资料依据：docs/02-技术架构.md；apps/api/src/app.ts；docs/06-部署与交付.md。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系统提供六类资源。每份输出关联知识节点、来源编号、难度和个性化原因。ReviewAgent 检查内容结构与安全；自动返工最多一次，之后降级或返回错误。真实模型内容仍需要课程人员复核。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资料依据：docs/01-需求与产品说明.md；apps/api/src/services/workflow.ts。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内容进入客户端前经过结构校验、来源检查和 ReviewAgent。失败后最多再试一次，之后走确定性降级或错误提示。DeepSeek API Key 存在 Railway 环境变量，不写入客户端可见的 EXPO_PUBLIC 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资料依据：docs/02-技术架构.md；docs/05-来源许可与AI编程说明.md。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 实操创建一次性的内存数据库，由独立 Worker 运行。沙箱只允许单条语句，设置两秒超时和两百行结果上限，并拒绝 ATTACH、PRAGMA、事务控制和扩展加载。这是教学用环境，不用于执行生产数据操作。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资料依据：apps/api/src/sql/sandbox.ts；docs/02-技术架构.md。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与 API 生产地址最近返回 HTTP 200。10 月 1 日的项目记录显示 lint、类型检查、16 项测试、Expo Doctor 21 项检查和 Web 构建通过。本机没有 adb，因此没有安装 APK。生产数据库目前是进程内存，且没有真实用户试用数据。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资料依据：前序自动化检查记录；docs/03-测试与验收.md；EAS Build 4a577b85-d273-4374-8277-f7d5399f0baf。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以上是当前 Web、API 和 APK 的交付入口。三个账号用于演示，密码统一为 demo1234。部署状态不等于真机和真实教学效果验证。谢谢。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资料依据：docs/04-用户使用手册.md；docs/06-部署与交付.md。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5aaad38f145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ae2b11e7b4b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c580f6ced4f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e467eff044e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da4507d1d4f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5ec04cdad4c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D27728-25F4-4043-92E4-50B1ED4D0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7C3D43-A475-4932-AC7A-DE95F2F212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8B94F6-B22D-4EEF-8466-DB6909C5C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E54FC8-43F5-446E-A6A7-7A20E66B6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8A71E0-9CFB-41A3-9440-1576513D7C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A2ACE0-D8CC-478E-8E17-F35543BD06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B7FC58-6616-4F4E-971B-7FA7C87731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A64B81-ADBA-4E12-8081-4DD15D7FE8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219E6A-CC09-41F8-8BC6-4E60C454F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42BC52-D59A-49E6-AFFE-D5FA6BA007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5c86917a884537" /><Relationship Type="http://schemas.openxmlformats.org/officeDocument/2006/relationships/slideLayout" Target="/ppt/slideLayouts/slideLayout1.xml" Id="R1a588e1311404ef1" /><Relationship Type="http://schemas.openxmlformats.org/officeDocument/2006/relationships/slideLayout" Target="/ppt/slideLayouts/slideLayout2.xml" Id="Re430557d516a4856" /><Relationship Type="http://schemas.openxmlformats.org/officeDocument/2006/relationships/slideLayout" Target="/ppt/slideLayouts/slideLayout3.xml" Id="R7bf7a4dac7964b47" /><Relationship Type="http://schemas.openxmlformats.org/officeDocument/2006/relationships/slideLayout" Target="/ppt/slideLayouts/slideLayout4.xml" Id="R10b9c07942744dc4" /><Relationship Type="http://schemas.openxmlformats.org/officeDocument/2006/relationships/slideLayout" Target="/ppt/slideLayouts/slideLayout5.xml" Id="R97d38fa70eb8468c" /><Relationship Type="http://schemas.openxmlformats.org/officeDocument/2006/relationships/slideLayout" Target="/ppt/slideLayouts/slideLayout6.xml" Id="Rca9b33096e5d49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88e1311404ef1"/>
    <p:sldLayoutId xmlns:r="http://schemas.openxmlformats.org/officeDocument/2006/relationships" id="2147483650" r:id="Re430557d516a4856"/>
    <p:sldLayoutId xmlns:r="http://schemas.openxmlformats.org/officeDocument/2006/relationships" id="2147483651" r:id="R7bf7a4dac7964b47"/>
    <p:sldLayoutId xmlns:r="http://schemas.openxmlformats.org/officeDocument/2006/relationships" id="2147483652" r:id="R10b9c07942744dc4"/>
    <p:sldLayoutId xmlns:r="http://schemas.openxmlformats.org/officeDocument/2006/relationships" id="2147483653" r:id="R97d38fa70eb8468c"/>
    <p:sldLayoutId xmlns:r="http://schemas.openxmlformats.org/officeDocument/2006/relationships" id="2147483654" r:id="Rca9b33096e5d49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0d61d038348e9" /><Relationship Type="http://schemas.openxmlformats.org/officeDocument/2006/relationships/image" Target="/ppt/media/image.png" Id="R3b8f2f202ff04f4a" /><Relationship Type="http://schemas.openxmlformats.org/officeDocument/2006/relationships/notesSlide" Target="/ppt/notesSlides/notesSlide1.xml" Id="R65ce76bae5d141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ce6a6b7b14365" /><Relationship Type="http://schemas.openxmlformats.org/officeDocument/2006/relationships/notesSlide" Target="/ppt/notesSlides/notesSlide2.xml" Id="R1e4d66dfb82f49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aa5046c8c4729" /><Relationship Type="http://schemas.openxmlformats.org/officeDocument/2006/relationships/notesSlide" Target="/ppt/notesSlides/notesSlide3.xml" Id="R626bc6940bba49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175cb9bf094f7a" /><Relationship Type="http://schemas.openxmlformats.org/officeDocument/2006/relationships/notesSlide" Target="/ppt/notesSlides/notesSlide4.xml" Id="R99828ec83dd04b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bbf3086aa443a" /><Relationship Type="http://schemas.openxmlformats.org/officeDocument/2006/relationships/notesSlide" Target="/ppt/notesSlides/notesSlide5.xml" Id="R372347e28ff545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5bc9c36324b9c" /><Relationship Type="http://schemas.openxmlformats.org/officeDocument/2006/relationships/notesSlide" Target="/ppt/notesSlides/notesSlide6.xml" Id="Rd376238f448844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2e5700e5349b6" /><Relationship Type="http://schemas.openxmlformats.org/officeDocument/2006/relationships/notesSlide" Target="/ppt/notesSlides/notesSlide7.xml" Id="Rebf92c73df4a4d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fbfcea47d48af" /><Relationship Type="http://schemas.openxmlformats.org/officeDocument/2006/relationships/notesSlide" Target="/ppt/notesSlides/notesSlide8.xml" Id="R2e217924e63a47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2a43a17b8469a" /><Relationship Type="http://schemas.openxmlformats.org/officeDocument/2006/relationships/notesSlide" Target="/ppt/notesSlides/notesSlide9.xml" Id="R666b757a83054c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9dedcd43b4a93" /><Relationship Type="http://schemas.openxmlformats.org/officeDocument/2006/relationships/notesSlide" Target="/ppt/notesSlides/notesSlide10.xml" Id="R4565478e897f4a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7734295a14838" /><Relationship Type="http://schemas.openxmlformats.org/officeDocument/2006/relationships/notesSlide" Target="/ppt/notesSlides/notesSlide11.xml" Id="Rc16b6362db9f4a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3f7783d7d4975" /><Relationship Type="http://schemas.openxmlformats.org/officeDocument/2006/relationships/notesSlide" Target="/ppt/notesSlides/notesSlide12.xml" Id="Ra0a42c343a2f45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dce91f81d4368" /><Relationship Type="http://schemas.openxmlformats.org/officeDocument/2006/relationships/notesSlide" Target="/ppt/notesSlides/notesSlide13.xml" Id="R0a2d0f9b0c304f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57500-F323-433D-BAD0-BE907363FA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f2f202ff04f4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F54A3-5074-420E-8450-C52F4A02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9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ECB18-033F-42C1-B0A7-8F7A9ED6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10"/>
          </a:bodyPr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知径 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33444-B160-4333-BDF0-08A4E997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多智能体个性化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数据库学习系统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3A78E-F5EE-4EDF-9BE0-023C37BF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1875" b="0">
                <a:solidFill>
                  <a:srgbClr val="D7E9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7E9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9EA"/>
                </a:solidFill>
                <a:latin typeface="Microsoft YaHei"/>
                <a:ea typeface="Microsoft YaHei"/>
                <a:cs typeface="Microsoft YaHei"/>
              </a:rPr>
              <a:t>人工智能软件杯项目答辩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A1212-9EAD-4101-BC8E-5EB90E2F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25"/>
          </a:bodyPr>
          <a:lstStyle xmlns:a="http://schemas.openxmlformats.org/drawingml/2006/main">
            <a:defPPr algn="l">
              <a:defRPr sz="1350" b="0">
                <a:solidFill>
                  <a:srgbClr val="B4C8D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4C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4C8D3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31673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03ED4-0CE7-4B20-86A6-13F57A03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学习差异落在具体知识断点上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DCC17-4916-4978-AD13-FDC845FE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统一材料很难同时回答“我卡在哪里”和“下一步做什么”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06738-A74A-4766-9A19-5CA1EB54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EAF35-C192-4AE8-B2BE-BE4BB60F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BA14D-7036-44B3-A435-5837791E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基础薄弱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44B68-08E3-4B2B-95BC-2BEF367D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F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35D1F-0308-4B85-BC04-6A1308B7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57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关系模型和主外键概念混淆，直接刷综合题容易反复出错。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1D018-6D40-46CE-AE47-AEB0FBD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应试巩固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D185D-1E89-443F-87DC-58DDEC20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03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D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40469-8C24-4ED5-8633-22CF93C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857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知道范式结论，却不一定能用属性闭包解释推导过程。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50FEC-F79A-44AD-B57D-C1B08AD3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实践导向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7488D-9FD4-49EC-BBDD-3BF148C3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DF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66083-6F15-4E8C-9E17-737ADE5F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2857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能写查询，但还需要理解事务并发、执行计划与索引取舍。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03920-7AE8-4873-8114-5FC7CAC1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系统把差异转成可解释的路径和资源建议</a:t>
            </a:r>
          </a:p>
        </p:txBody>
      </p:sp>
    </p:spTree>
    <p:extLst>
      <p:ext uri="{BB962C8B-B14F-4D97-AF65-F5344CB8AC3E}">
        <p14:creationId xmlns:p14="http://schemas.microsoft.com/office/powerpoint/2010/main" val="2101887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1AC87-825D-4606-87EE-EA8D431F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核心流程把证据转成下一步学习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1DB74-9460-4202-AA56-7D113DDE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画像与路径会随诊断证据更新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20A69-24F7-44A8-B08C-03D8D0D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74F67-2E93-4AEC-87D3-BC4BFFD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881FD-C7B6-4091-A90A-E223B731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543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5141D-8FF4-48CD-BA50-E7EAFB0F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BCC1A-1C16-4554-9A6F-E0AF62B3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画像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73FB0-43C0-43C8-B212-997B21CD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八维学习信息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27C30-1541-4A2C-8E95-30BD555B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47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5B5C8-B046-4350-A163-9839F641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0300"/>
            <a:ext cx="1543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A0502-5F07-40DF-A688-BD0C5320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43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38ADB-3EF6-4989-A6F5-2ACBD67C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7D456-2CF8-4DDD-89DB-311B6638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04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定位知识断点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67542-5CEC-4F29-B292-E7466D8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47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AB2C6-A54B-47E4-8262-80FFC7F0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1543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AE122-71E8-4708-A35B-D3360046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43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9B7B9-675D-4454-A2B1-81C20A24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A669A-BE16-4C33-BDE2-6E6BE7E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004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补齐前置依赖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2AF58-D06A-42CF-95BD-384CCEEC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47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28474-E9DB-46E7-8E09-B71F01D6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1543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0AAEF-3C81-4E4E-B3C4-B03E8AD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43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DB27D-B016-4776-A751-5ED3076E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80D4E-E018-4AAD-9831-602AA8A6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匹配内容形式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A9145-7A62-497C-8E53-A537581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47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BA383-04CB-40EC-A62B-185FFE42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543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69BA40-375C-43DD-A258-C2CFBED0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55ACA9-312D-49EA-B008-FE8985F4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复评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DFB51-7E5F-43EC-96A1-C9AD9258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04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更新掌握度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FB9BC-F347-4CCD-B1E6-DC4BDBCB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52"/>
          </a:bodyPr>
          <a:lstStyle xmlns:a="http://schemas.openxmlformats.org/drawingml/2006/main">
            <a:defPPr algn="ctr">
              <a:defRPr sz="25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学习结果 → 新证据 → 新路径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D6C758-7925-4253-9FAA-806E19E5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51"/>
          </a:bodyPr>
          <a:lstStyle xmlns:a="http://schemas.openxmlformats.org/drawingml/2006/main">
            <a:defPPr algn="ctr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每次建议都能回到具体知识点、掌握度和学习目标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1354829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BA705-AD89-4A77-AD90-AA0A790F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三个演示画像对应三种学习策略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9E5E3-A1F4-4A8A-A23D-F82729BC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同一门课、同一校园选课案例，推荐重点各不相同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54D96-2EF8-4F7A-8AC5-147EB94A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3088D-0BD7-46D7-8A5C-3888D1B2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304B9-2363-4B95-A977-0BFB8665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>
            <a:defPPr algn="l">
              <a:defRPr sz="22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基础薄弱型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8DC96-80A4-46B7-AFDC-6B1728C8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补齐关系模型与 SQL 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7082F-5CCF-4BDF-A31A-6079B60F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194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26A98-E5CA-43C1-A4AB-71404DD6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关系 48 · 键 35 · 查询 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5E020-2788-4BDB-80C9-2330F51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先看图解，再做分步讲解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EF66A-D108-432B-B412-CB715FDC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19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>
            <a:defPPr algn="l">
              <a:defRPr sz="2250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rPr>
              <a:t>应试巩固型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53275-9D18-4AD0-80D3-00389538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强化规范化与高频考点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D3D13-8663-40C6-8BB0-0315874B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194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45900-3589-40AF-9C4B-7E5E88D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766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关系 82 · 依赖 58 · BCNF 46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614E4-57A4-4663-9D1B-9468F0A1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243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先补闭包推导，再做分层练习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15D8D-1216-4371-93C5-DFDF6BE0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>
            <a:defPPr algn="l">
              <a:defRPr sz="22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实践导向型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F9178-6B1F-4638-B50A-36CF8D96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掌握事务、索引和查询优化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1B8AF-4822-41E3-9335-B6C5AF1E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5B010-C985-4A18-AEF6-B5B8E6C6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查询 88 · 隔离 52 · 索引 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D0655-A9AD-4FD5-8ABC-210044E3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先进入 SQL 实操，再阅读执行计划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4AA85-EA46-4992-A12D-B248D97E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>
            <a:defPPr algn="ctr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演示数据为虚构画像，不代表真实用户试验</a:t>
            </a:r>
          </a:p>
        </p:txBody>
      </p:sp>
    </p:spTree>
    <p:extLst>
      <p:ext uri="{BB962C8B-B14F-4D97-AF65-F5344CB8AC3E}">
        <p14:creationId xmlns:p14="http://schemas.microsoft.com/office/powerpoint/2010/main" val="704039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0B221F-4C40-42DA-851E-7BFFC9D9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9 个模块串起 45 个课程知识节点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8CB5-77F5-421E-9167-2F184F40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依赖关系帮助算法避免跳过必要基础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810D3-B9C0-41BD-971D-BC7C5335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E14EE-42E2-4E28-AABC-D5F3ECBE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71565-798E-47D5-9B27-D25C733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BE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B707A-607D-4B30-BD31-5633C74B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B15BB-3B11-4A80-BC24-2CD3B287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72332-13A2-491C-AAD9-A2FC81AD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数据库基础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4 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E5329-3009-4908-B1C7-ED65C8C5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F5607-F818-42CB-A434-6AD2645A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051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A3F09-01E9-47E2-B470-A6A98F0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关系模型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5 节点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25318-5137-4788-8298-FBEADD29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C890D-277A-4766-A5D1-8474A2A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4B879-6238-4233-9CDA-04C73D10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SQL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7 节点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8966F-B2A9-4413-98D7-54787207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3FA27-6D31-444A-AC38-940E4BC3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8EEF8-3056-470F-8919-EDA13B39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909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概念设计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5 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1E3E5-BDD0-4B18-A34A-FEDCF0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3012A-5537-48D2-87D3-D7E63E1A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051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47F4A-3983-429F-99FD-EBEDBB16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909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规范化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5 节点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22684-75AB-42FA-9F4B-0958D93B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381C0-9172-4CBB-921B-4D3B5394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597C12-9EAC-4DC4-AE6B-DD856A47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事务并发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6 节点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B8EB3-B849-4A2A-A303-87FB898E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F653F-29DD-431E-9414-9840A6BD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6859A0-3647-4F58-85D4-91C623F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909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4 节点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353D4-7D06-404C-9CF9-30ACDDDC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1C7F46-3BD6-4F76-AB14-02C4A888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86426-1A9B-4C0E-87F5-13E84E5C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存储优化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5 节点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77CD0-B6E5-4134-AE7C-4DA77253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23E7E5-42A3-4AB2-8C54-A2D726C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051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3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089B99-7E89-4C00-A9D0-88C2760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9095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安全完整性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4 节点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E91916-65B8-46C7-86CC-C04E6D9A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基础 → SQL 与设计 → 规范化 → 事务恢复 → 优化与安全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15AB1B-46F8-45DE-AD04-81D5C615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673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719"/>
          </a:bodyPr>
          <a:lstStyle xmlns:a="http://schemas.openxmlformats.org/drawingml/2006/main">
            <a:defPPr algn="ctr">
              <a:def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每个节点保存目标、难度、关键词、前置节点与来源编号</a:t>
            </a:r>
          </a:p>
        </p:txBody>
      </p:sp>
    </p:spTree>
    <p:extLst>
      <p:ext uri="{BB962C8B-B14F-4D97-AF65-F5344CB8AC3E}">
        <p14:creationId xmlns:p14="http://schemas.microsoft.com/office/powerpoint/2010/main" val="694591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F202C-F863-43C7-8AEA-146846D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掌握度决定补救优先级与路径顺序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DE9B4-2E15-4559-81C3-4F7EF9F4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证据由正确率、提示独立性、回答质量和信心校准构成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1A971-CC12-49EE-B1A5-6F836B9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4960E-6094-4A44-970D-6782C6C6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0EFD0-6274-4A92-A179-059694F3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证据分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79106-DAAF-40AA-B189-9FD54187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43"/>
          </a:bodyPr>
          <a:lstStyle xmlns:a="http://schemas.openxmlformats.org/drawingml/2006/main">
            <a:defPPr algn="l">
              <a:defRPr sz="19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0.60 × 正确率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3CBFB-F6E0-4D3E-A849-E94EB29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+ 0.15 × 提示独立性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2D5BC-1D35-4B4B-A95D-9D375B8C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+ 0.15 × 回答质量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21816-16F2-4A4D-B33B-ED57C9E7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+ 0.10 × 信心校准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56D93-00C8-4AA4-B750-1799360B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A087F-00EF-4F53-8454-421D591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新掌握度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81D7E-C6A8-4EB7-AB90-E8832B2C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14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>
            <a:defPPr algn="l">
              <a:defRPr sz="20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0.70 × 旧值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4EEFB-D77F-4C39-A28F-F9250809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99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+ 0.30 × 本次证据分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8CE64-351C-4AC2-8CEB-6CBD7EEB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候选点 &lt; 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4919B-B433-4740-B0BB-9C21002B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815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先按掌握度排序，再补未掌握前置节点；最多 8 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D2D7E-162F-4FF6-B3B3-640C69B0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&lt; 60 补救     ·     60–79 巩固     ·     ≥ 80 掌握</a:t>
            </a:r>
          </a:p>
        </p:txBody>
      </p:sp>
    </p:spTree>
    <p:extLst>
      <p:ext uri="{BB962C8B-B14F-4D97-AF65-F5344CB8AC3E}">
        <p14:creationId xmlns:p14="http://schemas.microsoft.com/office/powerpoint/2010/main" val="557157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FA78BF-125E-4749-812A-7944540E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12 个智能体角色分工清晰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EF09E-72FA-4579-BB97-25D03773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资源工作流由编排器组织，经审核后返回客户端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FE4E1-EE77-4139-8009-C50CAA3E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0C334-713C-48B4-AAE2-F79F842C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DC77D-731A-4B3F-B166-D474595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FBDB8-8F65-4389-B49C-A8E5B8FF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431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58008-BFAF-4050-9AF7-C60A50D6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932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控制流程与失败降级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5066B-A245-4CF8-B3D4-5FF31B44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8EAE3-D685-4B42-91F6-D8455998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ProfileAgent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3778E-1ACF-49C1-80A0-9559682D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4797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整理八维学习画像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5F2EC-825A-4297-843D-84409B9C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6F216-C7FB-41E2-9F46-78B6EB4E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04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DiagnosisAgent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5D859-08DE-4597-88C0-5BBF5F9C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7662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定位断点和错误模式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FE2CB-D1BF-4A48-A369-84AB1189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090BF-BA89-4BDB-AA8E-60DA4047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PathAgent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F66E0-10FA-42C1-A190-4F47DE2F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0527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规划学习顺序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3A471-BB8A-42C6-AF14-34AA9B4D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17726-8E9B-4660-B9F6-D8100B79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577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DocumentAgent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3EEFD-47E9-461E-846A-37D9EDE1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生成讲解文档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BC828-5861-4DCD-B0DE-836D5D6D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6B329-713D-4F3C-B457-B6BAB4DE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863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DiagramAgent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B9E5F-F8FD-4FAF-A847-EC07DCAB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6257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生成知识图解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24785-9C7F-4B8A-A255-CF70206C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11F38-CE6E-4BEA-A031-5B4FA815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QuizAgent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A1D1E-249D-49A7-A6A5-5D5F5726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生成分层练习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09808-D511-477B-AC03-DD55ECF5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F444E8-F17B-4AB4-AA9E-795822AE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SQLLabAgent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55AEA-B528-49DC-B329-EE15478C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4797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 SQL 实操任务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3D6C7-1BA6-4C97-9F40-7C1E0E75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9B020C-B130-49B4-9D54-186D98A8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ReadingAgent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465D4B-B595-4077-9455-5A5746F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生成复习材料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1AD0DF-9774-4F8D-A1DF-1F7B6527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1A3788-14B6-4DCD-A559-38B9A70D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ReviewAgent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BBC159-EF0E-413E-A352-203FCDB7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检查事实、来源与安全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0E7D8A-83F8-4C28-9E26-7DB21CB8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57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EF2C49-8E49-4EDB-8F2C-16A8C4F8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TutorAgent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33636E-D2E5-4FB8-BDCC-D565AE4A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提供课程证据问答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0CD9F3-1585-4010-BDA0-84B3F7D7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6"/>
          </a:bodyPr>
          <a:lstStyle xmlns:a="http://schemas.openxmlformats.org/drawingml/2006/main"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5E1C67-4C9D-4786-B2ED-4DE00EC9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863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22"/>
          </a:bodyPr>
          <a:lstStyle xmlns:a="http://schemas.openxmlformats.org/drawingml/2006/main"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EvaluationAgent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CD4BE9-F321-4F39-AD54-6317C336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62575"/>
            <a:ext cx="404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55"/>
          </a:bodyPr>
          <a:lstStyle xmlns:a="http://schemas.openxmlformats.org/drawingml/2006/main"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评估证据并更新路径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FBA684-6368-4D4C-9949-4926AB64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52625"/>
            <a:ext cx="0" cy="3667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6461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62FFE-3229-44FA-AC38-10BCEFAB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客户端、API 与隔离执行层解耦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DB903-9448-409D-9ED4-6E06187E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客户端只访问服务端 API；模型密钥不进入 APK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11A74-3D0E-4B16-B8BA-AAAC663F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F8714-C21B-4663-A3DA-68836018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48D0C-4DD2-46DC-BE2A-5DF9D8A3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3143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F928B-B90A-4D23-A155-3473340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343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751"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Expo 客户端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9971A-7B84-4560-8131-8A723F36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15"/>
          </a:bodyPr>
          <a:lstStyle xmlns:a="http://schemas.openxmlformats.org/drawingml/2006/main">
            <a:defPPr algn="ctr"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rPr>
              <a:t>Android 与 Web 共用路由和组件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40C4A-98B0-49C6-B7D1-7ED8720C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2743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4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00AB3-7829-4E82-853C-B99D1BE2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343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751"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Hono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A859C-3142-4DB6-A4D2-D29D2C99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15"/>
          </a:bodyPr>
          <a:lstStyle xmlns:a="http://schemas.openxmlformats.org/drawingml/2006/main">
            <a:defPPr algn="ctr"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rPr>
              <a:t>Zod 校验 · REST 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DB318-208A-4F16-A2B1-9AF345E4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238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E6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E4F6A-85E3-43EC-906C-D672E1E3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431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751"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LangGraph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685B5-2C4E-42FB-BDC7-BBF83128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24150"/>
            <a:ext cx="1971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15"/>
          </a:bodyPr>
          <a:lstStyle xmlns:a="http://schemas.openxmlformats.org/drawingml/2006/main">
            <a:defPPr algn="ctr"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rPr>
              <a:t>工作流与检查点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170DF-1C58-4BD4-8426-B0C2FAD1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98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D8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94288-69F7-4BF6-8E8E-6FB15D1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D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4491E-562B-4DCF-8CD0-19265606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289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B1058-1B72-45E1-92DD-8CAB215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3143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636D1-34BF-4B68-B600-9EA4F838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6717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375"/>
          </a:bodyPr>
          <a:lstStyle xmlns:a="http://schemas.openxmlformats.org/drawingml/2006/main">
            <a:defPPr algn="ctr"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Course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37EB6-1CA8-4D23-A4FD-84E37774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>
            <a:defPPr algn="ctr"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45 节点 · 前置关系 · 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77CDE-2914-40EE-8FDB-57167BC8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19B10-20A3-467A-9681-A18CA45E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43350"/>
            <a:ext cx="27432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A77EC-3354-4BB6-A5BF-C2E7BAE3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67175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375"/>
          </a:bodyPr>
          <a:lstStyle xmlns:a="http://schemas.openxmlformats.org/drawingml/2006/main">
            <a:defPPr algn="ctr"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sql.js Worker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410DF-5445-4AA9-AB71-344E94E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005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>
            <a:defPPr algn="ctr"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隔离的内存教学数据库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16F77-F212-4773-BECC-1CEC87A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0289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143C65-CD21-4C37-B875-7FE03E1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23837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2071D-373B-4027-B832-A33E196A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67175"/>
            <a:ext cx="2009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375"/>
          </a:bodyPr>
          <a:lstStyle xmlns:a="http://schemas.openxmlformats.org/drawingml/2006/main">
            <a:defPPr algn="ctr"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E5AD1-06A1-4FD0-9C0C-36B11C47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0055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>
            <a:defPPr algn="ctr"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服务端可选模型能力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841A2-5A20-4E9E-A275-0249775D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768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生产 API 运行在 Railway    ·    Web 托管于 EAS    ·    APK 由 EAS Build 生成</a:t>
            </a:r>
          </a:p>
        </p:txBody>
      </p:sp>
    </p:spTree>
    <p:extLst>
      <p:ext uri="{BB962C8B-B14F-4D97-AF65-F5344CB8AC3E}">
        <p14:creationId xmlns:p14="http://schemas.microsoft.com/office/powerpoint/2010/main" val="4077274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B80697-68D1-4DA8-91C7-A9EFA507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资源形式随学习目标和偏好调整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CD0AC-2E52-4048-93A0-4E24CF43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每种资源都关联课程节点、难度、来源与个性化理由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386C8-ADD5-4061-A505-C98D5E58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B7386-C4A5-499E-AB30-C8A53E6F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973C1-C32D-4ADD-9C79-64C3AA1E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4359C-12ED-479E-AFC1-A47DEE5D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288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讲解文档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E10E1-F810-4539-B254-B1D8AC25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86025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F2FDA-08A6-454F-A5A7-8D0885E7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概念解释与校园案例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9005F-964F-490E-ACCB-2EEDA69B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52056-6995-415C-B27E-28493663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288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知识图解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CFD6E-8C43-45B8-860A-A1B181B3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86025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C2E82-13E8-4429-8E85-541E6228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19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关系结构和概念连接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F6CC9-EAC5-4F95-8C91-CAE7CD87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37E92-3284-4B2A-B14C-ACD58DE0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288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分层练习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56F32-55BC-4A1A-A898-7676E311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86025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EA0C0-6DBC-4EEA-8847-9EA3E576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19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题目、答案与错因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47C0E-963C-4214-B0EA-8E53C02B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5777F-8671-4AD1-971D-EEA83CEA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SQL 实操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1BB70-3B50-47EF-AFA8-6F63A284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87F04-18CF-456F-A703-38F5304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可运行查询任务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2A00D-B47A-4AE7-9B29-93E0FD35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D9E1D-BB59-44E7-86B6-D9189EB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交互图解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95878-B20D-4D96-AF43-A27EE0BD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8C6A2-8C00-47BA-A020-981BC118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86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分步比较结构变化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85042-D798-4177-AC10-C5E9AD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42C13-15D5-4CE3-AE53-93D6F1B9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复习卡片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0271FC-A2EF-499A-B68B-F65503B5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B3D2E-BB74-4F55-93DC-51883437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概念与下一步建议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88B10-D35A-4B41-8259-7A982B12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94"/>
          </a:bodyPr>
          <a:lstStyle xmlns:a="http://schemas.openxmlformats.org/drawingml/2006/main">
            <a:defPPr algn="ctr">
              <a:def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资源通过审核后才标记为已审核；失败最多自动返工一次</a:t>
            </a:r>
          </a:p>
        </p:txBody>
      </p:sp>
    </p:spTree>
    <p:extLst>
      <p:ext uri="{BB962C8B-B14F-4D97-AF65-F5344CB8AC3E}">
        <p14:creationId xmlns:p14="http://schemas.microsoft.com/office/powerpoint/2010/main" val="3657818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4BFB4-E394-49A5-8A4B-BC7DB382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生成内容有校验、审核和降级路径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59FFB-F1EF-439E-8BF5-7C4F697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线上模型不可用时仍保留可重复的演示能力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2FE01-F757-47EF-AC64-2BFD51FB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8586D-302B-42DE-8B7A-CEBDC505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FE2A0-21F4-4139-B5EF-FA61B275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8FD30-01A2-4C3F-AFA3-ECDE54D3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059D8-DC5C-4B6F-BFA9-BF48B03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876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输出结构符合契约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67B25-F25F-48D7-BB68-FFC937BB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098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55AF9-611D-416D-A538-3264C504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7761D-D821-4A82-AFF1-55D19024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5C83C-E506-48AA-8476-41F0884B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24200"/>
            <a:ext cx="1876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事实映射到课程节点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E45D6-4A88-492E-A35D-531B8DF8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98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3D6ED-3BE8-4952-B494-9C85ADD3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BB09E-CBA4-4300-8326-78D0E470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DC4B6-FCC6-4168-BD8B-A77F3F24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1876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难度与安全审核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6C2AD-390D-4D90-9614-80E505DC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98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944F0-D5E4-4310-8FBC-2BD33995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28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4221D-0043-42DB-A002-159DD435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重试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0CC17-84E8-4438-A404-34597580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24200"/>
            <a:ext cx="1876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失败仅自动返工一次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B20FB-F0C1-431C-B1DF-C66BF056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98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2B31A-6302-4753-B2E8-05839C15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28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BB89E-A112-4A6A-A1D8-14955D7B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34254-5A1F-4488-BCDB-D19C71BD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24200"/>
            <a:ext cx="1876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返回确定性资源或错误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FDDB3-0BD8-4D3E-B855-BA81F0C5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6A8986-97BA-4B69-B2AB-CCF704A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43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ctr">
              <a:defRPr sz="18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DeepSeek 负责生成能力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5D4547-336C-4BD6-AD32-025DF4A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43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确定性生成器负责模型不可用时的演示回退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1BC0B2-3556-4AE4-AF58-3C733A2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626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ctr">
              <a:def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API Key 只保存在服务端环境变量</a:t>
            </a:r>
          </a:p>
        </p:txBody>
      </p:sp>
    </p:spTree>
    <p:extLst>
      <p:ext uri="{BB962C8B-B14F-4D97-AF65-F5344CB8AC3E}">
        <p14:creationId xmlns:p14="http://schemas.microsoft.com/office/powerpoint/2010/main" val="6168571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DE840-B256-40FD-91A1-7856D89B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SQL 实操运行在隔离的教学沙箱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C1A07-9C35-45F2-B2D6-8D9DBDD5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教学查询不会连接生产业务数据库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4B0EA-8C65-40BF-B4CD-7AE65850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96DC8-9E79-41B5-8023-1552D99A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663B0-DA63-492A-8177-12A7C20B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客户端提交 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31D97-4FB7-4F6C-B7B6-B53B4963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476625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47D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A0B44-A32B-4624-AE6E-10F7FB06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65"/>
          </a:bodyPr>
          <a:lstStyle xmlns:a="http://schemas.openxmlformats.org/drawingml/2006/main">
            <a:defPPr algn="ctr"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sql.js Worker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B19C0-AFCF-4310-BE80-BB462AF1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9560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单条语句 · 2 秒超时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最多返回 200 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DECF7-6AD8-419F-8AA5-F76D3187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050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结果与错误回传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51172-3C16-44AD-A25B-70584547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05100"/>
            <a:ext cx="63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D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1C410-A112-464B-98EF-565A460B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7051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D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0B612-8371-4705-AEBB-1EBAABD0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433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3F819-19F5-4D82-9339-EFAA881C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148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>
            <a:defPPr algn="ctr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拒绝危险能力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01A47-548A-4797-87F8-2419E6FF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0175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ATTACH  ·  PRAGMA  ·  事务控制  ·  扩展加载</a:t>
            </a:r>
          </a:p>
        </p:txBody>
      </p:sp>
    </p:spTree>
    <p:extLst>
      <p:ext uri="{BB962C8B-B14F-4D97-AF65-F5344CB8AC3E}">
        <p14:creationId xmlns:p14="http://schemas.microsoft.com/office/powerpoint/2010/main" val="16550644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0D7E1-2F97-480B-BBCA-BE570D7E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已验证的交付与仍待完成的检查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B7E72-F20A-4C78-AFFC-5F77496F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区分服务可用性、代码测试和真机体验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49273-A857-40E4-8B2A-E51F04B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EB8B7-A8CE-488C-B1A6-CBB397D5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4D9B8-44C7-46C1-806C-21436D5A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4308F-0F70-4CBA-B69D-D6838AD5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51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Web 地址返回 HTTP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FD0FA-9056-42E5-BCBD-A15F3BDD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51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API 健康检查返回 HTTP 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B50B0-B5AC-4AD7-9CBB-F34E977D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51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EAS Android preview 构建完成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7C26C-9BDA-4BDF-B845-9CD29394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481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最近记录：16 项测试与 Expo Doctor 21 项检查通过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B559A-5D95-47E6-B1E5-7594BECF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240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4B3F6-A327-4882-B309-3F3AB08B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>
            <a:defPPr algn="l">
              <a:defRPr sz="2325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rPr>
              <a:t>待完成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F2A41-0D7A-4E16-AE0A-B8C2B81F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51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Android 真机安装与移动网络流程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13AD2-5AB7-4817-A551-237CAC09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51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无缓存 Web 的完整交互逐项验收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386E8-D6AA-4ED6-A7BC-1CB9F7C0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51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真实用户前测、后测与体验问卷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EBB74-D1E3-4DD9-B10A-AF14CB88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51"/>
          </a:bodyPr>
          <a:lstStyle xmlns:a="http://schemas.openxmlformats.org/drawingml/2006/main"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生产数据持久化与进程重启验证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6BCE1-1E18-4F6B-BF7F-CFF3B579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91150"/>
            <a:ext cx="1014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APK 证书和包名来自 EAS 构建元数据；本机没有 adb，未做设备安装验证。</a:t>
            </a:r>
          </a:p>
        </p:txBody>
      </p:sp>
    </p:spTree>
    <p:extLst>
      <p:ext uri="{BB962C8B-B14F-4D97-AF65-F5344CB8AC3E}">
        <p14:creationId xmlns:p14="http://schemas.microsoft.com/office/powerpoint/2010/main" val="10349900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9DFB0-E7C3-4E2C-9832-5488D4FB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57"/>
          </a:bodyPr>
          <a:lstStyle xmlns:a="http://schemas.openxmlformats.org/drawingml/2006/main"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知径 DB 交付入口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4C4A8-7D55-4A17-B619-669D5C3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37"/>
          </a:bodyPr>
          <a:lstStyle xmlns:a="http://schemas.openxmlformats.org/drawingml/2006/main"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作品围绕同一课程案例打通学习路径与实践任务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20EB6-A605-4D85-84F7-B2B8105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6825A-1311-45EE-BCDA-3E81FA95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B515D-4F78-4529-A504-EB9C8FAB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A9510-A06B-4BA3-A6F6-8CBAB914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>
            <a:defPPr algn="l">
              <a:defRPr sz="20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zhijing-db.expo.app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F9875-3E34-4030-A5FA-85EADA40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1"/>
          </a:bodyPr>
          <a:lstStyle xmlns:a="http://schemas.openxmlformats.org/drawingml/2006/main"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API 健康检查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E0085-F9FF-424B-AC10-6C8735CD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547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zhijing-db-api-production.up.railway.app/health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82209-9558-4E08-A985-97066769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193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F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69197-18ED-4096-AB8F-65FD7764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Android APK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CC922-F7E3-4316-A812-9D4C5982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3981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deliverables/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zhijing-db-android.apk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BA7CF-7C0B-4BCC-A6F9-F8344C84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67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39"/>
          </a:bodyPr>
          <a:lstStyle xmlns:a="http://schemas.openxmlformats.org/drawingml/2006/main">
            <a:defPPr algn="l">
              <a:defRPr sz="1275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SHA-256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AF9D6-C285-4151-BFC9-3DD14D0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100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>
            <a:defPPr algn="l">
              <a:defRPr sz="16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BEABCDBF…E3ECC0B4D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A8BE1-1AB8-48AE-8201-A11E3E94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演示账号：foundation / exam / practice   |   密码：demo1234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57632-9368-4428-9A29-2EE356E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05475"/>
            <a:ext cx="971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662"/>
          </a:bodyPr>
          <a:lstStyle xmlns:a="http://schemas.openxmlformats.org/drawingml/2006/main">
            <a:defPPr algn="ctr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当前线上数据库为进程内存；真机安装与真实教学效果仍需验证。</a:t>
            </a:r>
          </a:p>
        </p:txBody>
      </p:sp>
    </p:spTree>
    <p:extLst>
      <p:ext uri="{BB962C8B-B14F-4D97-AF65-F5344CB8AC3E}">
        <p14:creationId xmlns:p14="http://schemas.microsoft.com/office/powerpoint/2010/main" val="1045672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2026-10-02T08:29:48.5680000Z</dcterms:created>
  <dcterms:modified xsi:type="dcterms:W3CDTF">2026-10-02T08:29:48.5680000Z</dcterms:modified>
</coreProperties>
</file>