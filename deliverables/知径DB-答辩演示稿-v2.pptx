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大家好，我汇报的项目是知径 DB。它面向数据库原理课程，把学习画像、知识断点、动态路径、资源生成和安全实操放进同一条学习流程。</a:t>
            </a:r>
          </a:p>
          <a:p>
            <a:endParaRPr/>
          </a:p>
          <a:p>
            <a:r>
              <a:t>资料依据：项目需求与产品说明；封面主视觉由 ImageGen 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数据库课程同时包含概念辨析、符号推理和 SQL 实操。同一份复习材料不能区分候选键的概念混淆、闭包推导不熟和执行计划经验不足。项目用三种匿名画像演示这些差异如何改变路径与资源形式。</a:t>
            </a:r>
          </a:p>
          <a:p>
            <a:endParaRPr/>
          </a:p>
          <a:p>
            <a:r>
              <a:t>资料依据：docs/01-需求与产品说明.md；packages/agents/src/index.ts。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系统先读取学习画像，再用诊断证据更新掌握度。路径算法按弱项和前置依赖排序，资源代理生成讲解、图解、练习或 SQL 任务。完成后再次收集证据，形成下一轮建议。</a:t>
            </a:r>
          </a:p>
          <a:p>
            <a:endParaRPr/>
          </a:p>
          <a:p>
            <a:r>
              <a:t>资料依据：docs/01-需求与产品说明.md；packages/agents/src/index.ts。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左侧是基础薄弱型，系统先补关系模型和键约束。中间的应试巩固型重点在函数依赖和范式证明。右侧实践型已有较好的 SQL 查询基础，更适合事务和索引实操。所有分数来自预设账号，仅用于演示个性化机制。</a:t>
            </a:r>
          </a:p>
          <a:p>
            <a:endParaRPr/>
          </a:p>
          <a:p>
            <a:r>
              <a:t>资料依据：packages/agents/src/index.ts；docs/04-用户使用手册.md。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课程图谱由九个模块组成，分别包含 4、5、7、5、5、6、4、5、4 个节点，共 45 个。节点数据保存在 course-data 包中；前置关系既用于路径排序，也用于资源解释。</a:t>
            </a:r>
          </a:p>
          <a:p>
            <a:endParaRPr/>
          </a:p>
          <a:p>
            <a:r>
              <a:t>资料依据：packages/course-data/src/index.ts；docs/02-技术架构.md。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证据分采用 60%、15%、15%、10% 四个权重；掌握度以 70% 旧值和 30% 新证据更新。路径函数把 80 以下的节点作为候选，按掌握度从低到高排序，并递归加入前置节点。阈值属于产品规则，尚未用真实教学试验验证。</a:t>
            </a:r>
          </a:p>
          <a:p>
            <a:endParaRPr/>
          </a:p>
          <a:p>
            <a:r>
              <a:t>资料依据：packages/agents/src/index.ts；docs/01-需求与产品说明.md。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代码中定义 12 个代理角色。资源流程按固定状态图执行，具体资源类型会调用对应生成角色，再进入 ReviewAgent。这里的“12 个智能体”指代码中的职责单元，不是 12 个独立大模型服务。</a:t>
            </a:r>
          </a:p>
          <a:p>
            <a:endParaRPr/>
          </a:p>
          <a:p>
            <a:r>
              <a:t>资料依据：packages/agents/src/index.ts；apps/api/src/services/workflow.ts。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客户端使用 Expo Router，后端使用 Hono。API 请求通过 Zod 校验，共享课程和智能体包。模型调用只在服务器端。SQL 教学环境由 sql.js Worker 执行，与生产业务数据库隔离。生产 API 和静态 Web 分别部署在 Railway 与 EAS Hosting。</a:t>
            </a:r>
          </a:p>
          <a:p>
            <a:endParaRPr/>
          </a:p>
          <a:p>
            <a:r>
              <a:t>资料依据：docs/02-技术架构.md；apps/api/src/app.ts；docs/06-部署与交付.md。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系统提供六类资源。每份输出关联知识节点、来源编号、难度和个性化原因。ReviewAgent 检查内容结构与安全；自动返工最多一次，之后降级或返回错误。真实模型内容仍需要课程人员复核。</a:t>
            </a:r>
          </a:p>
          <a:p>
            <a:endParaRPr/>
          </a:p>
          <a:p>
            <a:r>
              <a:t>资料依据：docs/01-需求与产品说明.md；apps/api/src/services/workflow.ts。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内容进入客户端前经过结构校验、来源检查和 ReviewAgent。失败后最多再试一次，之后走确定性降级或错误提示。DeepSeek API Key 存在 Railway 环境变量，不写入客户端可见的 EXPO_PUBLIC 配置。</a:t>
            </a:r>
          </a:p>
          <a:p>
            <a:endParaRPr/>
          </a:p>
          <a:p>
            <a:r>
              <a:t>资料依据：docs/02-技术架构.md；docs/05-来源许可与AI编程说明.md。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SQL 实操创建一次性的内存数据库，由独立 Worker 运行。沙箱只允许单条语句，设置两秒超时和两百行结果上限，并拒绝 ATTACH、PRAGMA、事务控制和扩展加载。这是教学用环境，不用于执行生产数据操作。</a:t>
            </a:r>
          </a:p>
          <a:p>
            <a:endParaRPr/>
          </a:p>
          <a:p>
            <a:r>
              <a:t>资料依据：apps/api/src/sql/sandbox.ts；docs/02-技术架构.md。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Web 与 API 生产地址最近返回 HTTP 200。10 月 1 日的项目记录显示 lint、类型检查、16 项测试、Expo Doctor 21 项检查和 Web 构建通过。本机没有 adb，因此没有安装 APK。生产数据库目前是进程内存，且没有真实用户试用数据。</a:t>
            </a:r>
          </a:p>
          <a:p>
            <a:endParaRPr/>
          </a:p>
          <a:p>
            <a:r>
              <a:t>资料依据：前序自动化检查记录；docs/03-测试与验收.md；EAS Build 4a577b85-d273-4374-8277-f7d5399f0baf。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8E4B33A-E520-433C-A6C6-ED418341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0626653-3186-40E2-84F9-9F43BA6CC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7DD08A3-0D37-425A-B6C0-EE5D1924A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6A8DDB-22B6-4C42-BA39-316EFCB6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EAF7992-527A-4287-ACCB-1EAC7C3A2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5EE58E3-9285-4FE6-824D-5FD534A6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3D766E6-FA93-420B-8D11-994B8419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3FEDD77-D0D8-48E5-8667-487C0735CC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704856-4B8B-429F-9A6C-F171068CA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B19BAE2-DB35-487D-B2D8-1F8B0A355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34E608-58B4-4E83-915B-F0E1EA352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4D913CF-8820-4434-BB5B-A9C130C0BE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1829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F010F9-5B7F-4C35-976B-03D8E9E77817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5334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510"/>
          </a:bodyPr>
          <a:lstStyle>
            <a:def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知径 DB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80CCAF-BC81-41FF-A0ED-CE02B9E90DAB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5429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3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多智能体个性化</a:t>
            </a:r>
          </a:p>
          <a:p>
            <a:pPr algn="l">
              <a:lnSpc>
                <a:spcPct val="113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数据库学习系统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DCDCE9-553D-4C32-B41D-796588CD2257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l">
              <a:defRPr sz="1875" b="0">
                <a:solidFill>
                  <a:srgbClr val="D7E9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D7E9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9EA"/>
                </a:solidFill>
                <a:latin typeface="Microsoft YaHei"/>
                <a:ea typeface="Microsoft YaHei"/>
                <a:cs typeface="Microsoft YaHei"/>
              </a:rPr>
              <a:t>人工智能软件杯项目答辩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E3CFE5-3C4B-4F70-A77A-4472C3EEECE6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325"/>
          </a:bodyPr>
          <a:lstStyle>
            <a:defPPr algn="l">
              <a:defRPr sz="1350" b="0">
                <a:solidFill>
                  <a:srgbClr val="B4C8D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B4C8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4C8D3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29806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E149C5F-582E-4A45-A4B1-2D0F12AA6D8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学习差异落在具体知识断点上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190AD3-9BD0-4A5F-BED5-1E91F9449407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统一材料很难同时回答“我卡在哪里”和“下一步做什么”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816C6B2-1BF1-40E5-93CA-638B23D52C07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31ED9F-AB57-4036-BA46-ECDC8A2F6850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EC8969-0E2F-4CD5-BBEF-469C96A7D872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基础薄弱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61904BD-615F-4E2E-B62A-5678A865C6C7}"/>
              </a:ext>
            </a:extLst>
          </p:cNvPr>
          <p:cNvSpPr>
            <a:spLocks noGrp="1"/>
          </p:cNvSpPr>
          <p:nvPr/>
        </p:nvSpPr>
        <p:spPr>
          <a:xfrm>
            <a:off x="876300" y="2600325"/>
            <a:ext cx="2571750" cy="0"/>
          </a:xfrm>
          <a:prstGeom prst="line">
            <a:avLst/>
          </a:prstGeom>
          <a:noFill/>
          <a:ln w="28575">
            <a:solidFill>
              <a:srgbClr val="D5DFE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BA637F-7C83-44A8-92E7-83A30C615716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2857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关系模型和主外键概念混淆，直接刷综合题容易反复出错。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B7BA3F-2911-4D8F-A572-B89008631B23}"/>
              </a:ext>
            </a:extLst>
          </p:cNvPr>
          <p:cNvSpPr>
            <a:spLocks noGrp="1"/>
          </p:cNvSpPr>
          <p:nvPr/>
        </p:nvSpPr>
        <p:spPr>
          <a:xfrm>
            <a:off x="4514850" y="20383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应试巩固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5F10FD44-ABBA-4853-BC36-6299FC0EF125}"/>
              </a:ext>
            </a:extLst>
          </p:cNvPr>
          <p:cNvSpPr>
            <a:spLocks noGrp="1"/>
          </p:cNvSpPr>
          <p:nvPr/>
        </p:nvSpPr>
        <p:spPr>
          <a:xfrm>
            <a:off x="4514850" y="2600325"/>
            <a:ext cx="2571750" cy="0"/>
          </a:xfrm>
          <a:prstGeom prst="line">
            <a:avLst/>
          </a:prstGeom>
          <a:noFill/>
          <a:ln w="28575">
            <a:solidFill>
              <a:srgbClr val="147D8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91A1CB-6758-4693-9AF0-05AB489F0467}"/>
              </a:ext>
            </a:extLst>
          </p:cNvPr>
          <p:cNvSpPr>
            <a:spLocks noGrp="1"/>
          </p:cNvSpPr>
          <p:nvPr/>
        </p:nvSpPr>
        <p:spPr>
          <a:xfrm>
            <a:off x="4514850" y="2857500"/>
            <a:ext cx="2857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知道范式结论，却不一定能用属性闭包解释推导过程。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E6B649-568C-4931-8473-0E37985B4B76}"/>
              </a:ext>
            </a:extLst>
          </p:cNvPr>
          <p:cNvSpPr>
            <a:spLocks noGrp="1"/>
          </p:cNvSpPr>
          <p:nvPr/>
        </p:nvSpPr>
        <p:spPr>
          <a:xfrm>
            <a:off x="8153400" y="20383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实践导向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7F32262-8F46-4F52-BDE8-66E28E0BD355}"/>
              </a:ext>
            </a:extLst>
          </p:cNvPr>
          <p:cNvSpPr>
            <a:spLocks noGrp="1"/>
          </p:cNvSpPr>
          <p:nvPr/>
        </p:nvSpPr>
        <p:spPr>
          <a:xfrm>
            <a:off x="8153400" y="2600325"/>
            <a:ext cx="2571750" cy="0"/>
          </a:xfrm>
          <a:prstGeom prst="line">
            <a:avLst/>
          </a:prstGeom>
          <a:noFill/>
          <a:ln w="28575">
            <a:solidFill>
              <a:srgbClr val="D5DFE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45E3D7-A1BF-4898-BA5E-F82B8AEE3E60}"/>
              </a:ext>
            </a:extLst>
          </p:cNvPr>
          <p:cNvSpPr>
            <a:spLocks noGrp="1"/>
          </p:cNvSpPr>
          <p:nvPr/>
        </p:nvSpPr>
        <p:spPr>
          <a:xfrm>
            <a:off x="8153400" y="2857500"/>
            <a:ext cx="2857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能写查询，但还需要理解事务并发、执行计划与索引取舍。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74B17-92F8-4A57-9F5F-FAE46B286535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系统把差异转成可解释的路径和资源建议</a:t>
            </a:r>
          </a:p>
        </p:txBody>
      </p:sp>
    </p:spTree>
    <p:extLst>
      <p:ext uri="{BB962C8B-B14F-4D97-AF65-F5344CB8AC3E}">
        <p14:creationId xmlns:p14="http://schemas.microsoft.com/office/powerpoint/2010/main" val="144141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A321ADDB-879B-4000-BA2E-5FF4808B880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核心流程把证据转成下一步学习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6748FD-C6B7-4B23-A6FC-C10B24A2733A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画像与路径会随诊断证据更新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1C67299-9D5F-4E2B-85EF-41A9595D7F09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5FBDE7-DB30-48F9-9E42-4F0D1C249AA4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264495-7148-4C82-8F71-61DE91AB7478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1543050" cy="38100"/>
          </a:xfrm>
          <a:prstGeom prst="rect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7EE48-FA69-4126-B9B4-EE679B8DDC0D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2E2174-A943-4FDD-8C34-F93AE1369F87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画像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3D8197-5118-484E-8ED1-92267390C59B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八维学习信息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9FD18545-8C8E-4F83-A8F9-46639FB92E37}"/>
              </a:ext>
            </a:extLst>
          </p:cNvPr>
          <p:cNvSpPr>
            <a:spLocks noGrp="1"/>
          </p:cNvSpPr>
          <p:nvPr/>
        </p:nvSpPr>
        <p:spPr>
          <a:xfrm>
            <a:off x="2552700" y="2847975"/>
            <a:ext cx="32385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C0D2CF-E663-477D-A297-F986164914D1}"/>
              </a:ext>
            </a:extLst>
          </p:cNvPr>
          <p:cNvSpPr>
            <a:spLocks noGrp="1"/>
          </p:cNvSpPr>
          <p:nvPr/>
        </p:nvSpPr>
        <p:spPr>
          <a:xfrm>
            <a:off x="3067050" y="2400300"/>
            <a:ext cx="1543050" cy="38100"/>
          </a:xfrm>
          <a:prstGeom prst="rect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648EE5-D308-4D35-92C6-96CD264D60CB}"/>
              </a:ext>
            </a:extLst>
          </p:cNvPr>
          <p:cNvSpPr>
            <a:spLocks noGrp="1"/>
          </p:cNvSpPr>
          <p:nvPr/>
        </p:nvSpPr>
        <p:spPr>
          <a:xfrm>
            <a:off x="3067050" y="19431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2E5F71-34E9-47A5-B74F-0863595D77D3}"/>
              </a:ext>
            </a:extLst>
          </p:cNvPr>
          <p:cNvSpPr>
            <a:spLocks noGrp="1"/>
          </p:cNvSpPr>
          <p:nvPr/>
        </p:nvSpPr>
        <p:spPr>
          <a:xfrm>
            <a:off x="3067050" y="2647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CB7180-677B-4AA8-8055-64A3F629E3CE}"/>
              </a:ext>
            </a:extLst>
          </p:cNvPr>
          <p:cNvSpPr>
            <a:spLocks noGrp="1"/>
          </p:cNvSpPr>
          <p:nvPr/>
        </p:nvSpPr>
        <p:spPr>
          <a:xfrm>
            <a:off x="3067050" y="32004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定位知识断点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FCCD01B0-7C6F-4664-B42B-F3C5E7CAE20B}"/>
              </a:ext>
            </a:extLst>
          </p:cNvPr>
          <p:cNvSpPr>
            <a:spLocks noGrp="1"/>
          </p:cNvSpPr>
          <p:nvPr/>
        </p:nvSpPr>
        <p:spPr>
          <a:xfrm>
            <a:off x="4743450" y="2847975"/>
            <a:ext cx="32385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A5E4B5-BFEB-4FAC-80ED-236BF4A535DF}"/>
              </a:ext>
            </a:extLst>
          </p:cNvPr>
          <p:cNvSpPr>
            <a:spLocks noGrp="1"/>
          </p:cNvSpPr>
          <p:nvPr/>
        </p:nvSpPr>
        <p:spPr>
          <a:xfrm>
            <a:off x="5257800" y="2400300"/>
            <a:ext cx="1543050" cy="38100"/>
          </a:xfrm>
          <a:prstGeom prst="rect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63E4DA-0724-4FEB-AC09-8580A128FF47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19038E-0CFC-46B0-A3C5-A838A1726350}"/>
              </a:ext>
            </a:extLst>
          </p:cNvPr>
          <p:cNvSpPr>
            <a:spLocks noGrp="1"/>
          </p:cNvSpPr>
          <p:nvPr/>
        </p:nvSpPr>
        <p:spPr>
          <a:xfrm>
            <a:off x="5257800" y="2647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1448E0-F12D-40CE-8D20-50409EF2C9F5}"/>
              </a:ext>
            </a:extLst>
          </p:cNvPr>
          <p:cNvSpPr>
            <a:spLocks noGrp="1"/>
          </p:cNvSpPr>
          <p:nvPr/>
        </p:nvSpPr>
        <p:spPr>
          <a:xfrm>
            <a:off x="5257800" y="32004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补齐前置依赖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E5A1532B-7246-4153-876A-5914E3EDDDD6}"/>
              </a:ext>
            </a:extLst>
          </p:cNvPr>
          <p:cNvSpPr>
            <a:spLocks noGrp="1"/>
          </p:cNvSpPr>
          <p:nvPr/>
        </p:nvSpPr>
        <p:spPr>
          <a:xfrm>
            <a:off x="6934200" y="2847975"/>
            <a:ext cx="32385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FFD2F5-B2E1-4607-B888-D590B3DCC4D6}"/>
              </a:ext>
            </a:extLst>
          </p:cNvPr>
          <p:cNvSpPr>
            <a:spLocks noGrp="1"/>
          </p:cNvSpPr>
          <p:nvPr/>
        </p:nvSpPr>
        <p:spPr>
          <a:xfrm>
            <a:off x="7448550" y="2400300"/>
            <a:ext cx="1543050" cy="38100"/>
          </a:xfrm>
          <a:prstGeom prst="rect">
            <a:avLst/>
          </a:prstGeom>
          <a:solidFill>
            <a:srgbClr val="147D82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BBF2AE-0840-4CAA-8B01-5C473E1F0BE2}"/>
              </a:ext>
            </a:extLst>
          </p:cNvPr>
          <p:cNvSpPr>
            <a:spLocks noGrp="1"/>
          </p:cNvSpPr>
          <p:nvPr/>
        </p:nvSpPr>
        <p:spPr>
          <a:xfrm>
            <a:off x="7448550" y="19431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B40540-F0C3-4BB8-BE24-0C6D7B27416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B22D89-97BD-4F9D-994F-E9F91F5F0A18}"/>
              </a:ext>
            </a:extLst>
          </p:cNvPr>
          <p:cNvSpPr>
            <a:spLocks noGrp="1"/>
          </p:cNvSpPr>
          <p:nvPr/>
        </p:nvSpPr>
        <p:spPr>
          <a:xfrm>
            <a:off x="7448550" y="32004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匹配内容形式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ED3468FE-864F-44EC-8802-F0117D565B25}"/>
              </a:ext>
            </a:extLst>
          </p:cNvPr>
          <p:cNvSpPr>
            <a:spLocks noGrp="1"/>
          </p:cNvSpPr>
          <p:nvPr/>
        </p:nvSpPr>
        <p:spPr>
          <a:xfrm>
            <a:off x="9124950" y="2847975"/>
            <a:ext cx="32385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16B64F-8373-45B5-914F-646E4325DB8D}"/>
              </a:ext>
            </a:extLst>
          </p:cNvPr>
          <p:cNvSpPr>
            <a:spLocks noGrp="1"/>
          </p:cNvSpPr>
          <p:nvPr/>
        </p:nvSpPr>
        <p:spPr>
          <a:xfrm>
            <a:off x="9639300" y="2400300"/>
            <a:ext cx="1543050" cy="38100"/>
          </a:xfrm>
          <a:prstGeom prst="rect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91B6B2-F579-4E9D-8710-863AA47E74C5}"/>
              </a:ext>
            </a:extLst>
          </p:cNvPr>
          <p:cNvSpPr>
            <a:spLocks noGrp="1"/>
          </p:cNvSpPr>
          <p:nvPr/>
        </p:nvSpPr>
        <p:spPr>
          <a:xfrm>
            <a:off x="9639300" y="19431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56995B-83AA-45C1-AE71-832423CEAE99}"/>
              </a:ext>
            </a:extLst>
          </p:cNvPr>
          <p:cNvSpPr>
            <a:spLocks noGrp="1"/>
          </p:cNvSpPr>
          <p:nvPr/>
        </p:nvSpPr>
        <p:spPr>
          <a:xfrm>
            <a:off x="9639300" y="2647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复评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D59B16-3CCE-4E01-BEBE-6F9BD69648DE}"/>
              </a:ext>
            </a:extLst>
          </p:cNvPr>
          <p:cNvSpPr>
            <a:spLocks noGrp="1"/>
          </p:cNvSpPr>
          <p:nvPr/>
        </p:nvSpPr>
        <p:spPr>
          <a:xfrm>
            <a:off x="9639300" y="32004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更新掌握度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471689-5D28-4C94-B7C6-AABE1C280F18}"/>
              </a:ext>
            </a:extLst>
          </p:cNvPr>
          <p:cNvSpPr>
            <a:spLocks noGrp="1"/>
          </p:cNvSpPr>
          <p:nvPr/>
        </p:nvSpPr>
        <p:spPr>
          <a:xfrm>
            <a:off x="857250" y="4514850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352"/>
          </a:bodyPr>
          <a:lstStyle>
            <a:defPPr algn="ctr">
              <a:defRPr sz="25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25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学习结果 → 新证据 → 新路径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662F0E-4CEF-4253-AAB4-23B338554BEE}"/>
              </a:ext>
            </a:extLst>
          </p:cNvPr>
          <p:cNvSpPr>
            <a:spLocks noGrp="1"/>
          </p:cNvSpPr>
          <p:nvPr/>
        </p:nvSpPr>
        <p:spPr>
          <a:xfrm>
            <a:off x="1428750" y="51435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ctr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每次建议都能回到具体知识点、掌握度和学习目标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310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69B39A6-0336-46CE-B9B8-6CFB3D44BD0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三个演示画像对应三种学习策略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EF7B1C-B2FB-4F47-A3FD-B824CB56E1D8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同一门课、同一校园选课案例，推荐重点各不相同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6806642-3EED-4399-9042-F60D2D7B36E5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E6E1F6-1865-4CD4-9372-DF851406851A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8E2E50-4D01-4F11-8CDC-5ECF2C943A94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238"/>
          </a:bodyPr>
          <a:lstStyle>
            <a:defPPr algn="l">
              <a:defRPr sz="22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基础薄弱型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10340-49D3-43A2-87CE-339C96C0C2AD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补齐关系模型与 SQL 基础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B84B8A77-7948-401D-8A94-6EA0CD8B898F}"/>
              </a:ext>
            </a:extLst>
          </p:cNvPr>
          <p:cNvSpPr>
            <a:spLocks noGrp="1"/>
          </p:cNvSpPr>
          <p:nvPr/>
        </p:nvSpPr>
        <p:spPr>
          <a:xfrm>
            <a:off x="895350" y="3419475"/>
            <a:ext cx="268605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6165A9-DF15-409C-9B16-4E8B0E07DAC2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关系 48 · 键 35 · 查询 44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E9995-A253-4940-9877-11ACDC04AFAA}"/>
              </a:ext>
            </a:extLst>
          </p:cNvPr>
          <p:cNvSpPr>
            <a:spLocks noGrp="1"/>
          </p:cNvSpPr>
          <p:nvPr/>
        </p:nvSpPr>
        <p:spPr>
          <a:xfrm>
            <a:off x="895350" y="432435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先看图解，再做分步讲解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A6B142-961E-4D7E-89CE-F0C4D504A77E}"/>
              </a:ext>
            </a:extLst>
          </p:cNvPr>
          <p:cNvSpPr>
            <a:spLocks noGrp="1"/>
          </p:cNvSpPr>
          <p:nvPr/>
        </p:nvSpPr>
        <p:spPr>
          <a:xfrm>
            <a:off x="4495800" y="20193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238"/>
          </a:bodyPr>
          <a:lstStyle>
            <a:defPPr algn="l">
              <a:defRPr sz="2250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rPr>
              <a:t>应试巩固型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DED0DC-FB98-47D5-BDA5-FC62FAC22DAE}"/>
              </a:ext>
            </a:extLst>
          </p:cNvPr>
          <p:cNvSpPr>
            <a:spLocks noGrp="1"/>
          </p:cNvSpPr>
          <p:nvPr/>
        </p:nvSpPr>
        <p:spPr>
          <a:xfrm>
            <a:off x="4495800" y="266700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强化规范化与高频考点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6BCEFC86-F573-4937-B0E4-B23C25A9AD0A}"/>
              </a:ext>
            </a:extLst>
          </p:cNvPr>
          <p:cNvSpPr>
            <a:spLocks noGrp="1"/>
          </p:cNvSpPr>
          <p:nvPr/>
        </p:nvSpPr>
        <p:spPr>
          <a:xfrm>
            <a:off x="4495800" y="3419475"/>
            <a:ext cx="268605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4EA867-E0F4-44DC-B115-D0F066CAC3E4}"/>
              </a:ext>
            </a:extLst>
          </p:cNvPr>
          <p:cNvSpPr>
            <a:spLocks noGrp="1"/>
          </p:cNvSpPr>
          <p:nvPr/>
        </p:nvSpPr>
        <p:spPr>
          <a:xfrm>
            <a:off x="4495800" y="36766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关系 82 · 依赖 58 · BCNF 46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36A37D-745B-4160-8400-4CE7E43C9484}"/>
              </a:ext>
            </a:extLst>
          </p:cNvPr>
          <p:cNvSpPr>
            <a:spLocks noGrp="1"/>
          </p:cNvSpPr>
          <p:nvPr/>
        </p:nvSpPr>
        <p:spPr>
          <a:xfrm>
            <a:off x="4495800" y="432435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先补闭包推导，再做分层练习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20150B-541B-4B33-B166-C48DFE5DAC67}"/>
              </a:ext>
            </a:extLst>
          </p:cNvPr>
          <p:cNvSpPr>
            <a:spLocks noGrp="1"/>
          </p:cNvSpPr>
          <p:nvPr/>
        </p:nvSpPr>
        <p:spPr>
          <a:xfrm>
            <a:off x="8096250" y="20193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238"/>
          </a:bodyPr>
          <a:lstStyle>
            <a:defPPr algn="l">
              <a:defRPr sz="22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实践导向型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25F036-E274-40F7-9B43-904DA66B9C32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掌握事务、索引和查询优化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9C6F621C-A3E2-49BB-A52E-93C174576B62}"/>
              </a:ext>
            </a:extLst>
          </p:cNvPr>
          <p:cNvSpPr>
            <a:spLocks noGrp="1"/>
          </p:cNvSpPr>
          <p:nvPr/>
        </p:nvSpPr>
        <p:spPr>
          <a:xfrm>
            <a:off x="8096250" y="3419475"/>
            <a:ext cx="268605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DAB0A3-432A-447C-8188-3145E7F3C4F1}"/>
              </a:ext>
            </a:extLst>
          </p:cNvPr>
          <p:cNvSpPr>
            <a:spLocks noGrp="1"/>
          </p:cNvSpPr>
          <p:nvPr/>
        </p:nvSpPr>
        <p:spPr>
          <a:xfrm>
            <a:off x="8096250" y="36766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查询 88 · 隔离 52 · 索引 48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2BD86C-E11E-45C7-B871-41AF16D882E2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先进入 SQL 实操，再阅读执行计划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924551-DFB8-4C07-9019-00FE3C9D6542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1042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86"/>
          </a:bodyPr>
          <a:lstStyle>
            <a:defPPr algn="ctr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演示数据为虚构画像，不代表真实用户试验</a:t>
            </a:r>
          </a:p>
        </p:txBody>
      </p:sp>
    </p:spTree>
    <p:extLst>
      <p:ext uri="{BB962C8B-B14F-4D97-AF65-F5344CB8AC3E}">
        <p14:creationId xmlns:p14="http://schemas.microsoft.com/office/powerpoint/2010/main" val="129622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3868048-E49F-4970-AF57-B842228E807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9 个模块串起 45 个课程知识节点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43AF38-CC4E-4FBD-B67D-193D4B82C1E5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依赖关系帮助算法避免跳过必要基础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E424D6C-6D7A-4801-B4F3-C2FC8B47C766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485416-1D3D-445E-89DF-F8B93C415122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05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8931E3CF-83AE-44D1-93F6-02A9C2CA0663}"/>
              </a:ext>
            </a:extLst>
          </p:cNvPr>
          <p:cNvSpPr>
            <a:spLocks noGrp="1"/>
          </p:cNvSpPr>
          <p:nvPr/>
        </p:nvSpPr>
        <p:spPr>
          <a:xfrm>
            <a:off x="1143000" y="3238500"/>
            <a:ext cx="9296400" cy="0"/>
          </a:xfrm>
          <a:prstGeom prst="line">
            <a:avLst/>
          </a:prstGeom>
          <a:noFill/>
          <a:ln w="28575">
            <a:solidFill>
              <a:srgbClr val="A8BEC2"/>
            </a:solidFill>
            <a:prstDash val="solid"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6592F50-AB43-49B7-AAD9-D86657773546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4760E4-78C0-4E3F-BBB5-A1704F6CD11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51E622-A3BA-40DA-BDBF-515FF539F087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数据库基础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4 节点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BE08757-61A9-40F1-A0D1-BC5D47B31A4E}"/>
              </a:ext>
            </a:extLst>
          </p:cNvPr>
          <p:cNvSpPr>
            <a:spLocks noGrp="1"/>
          </p:cNvSpPr>
          <p:nvPr/>
        </p:nvSpPr>
        <p:spPr>
          <a:xfrm>
            <a:off x="198120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3D3EEE-4102-405E-AA5E-084B7B137FE2}"/>
              </a:ext>
            </a:extLst>
          </p:cNvPr>
          <p:cNvSpPr>
            <a:spLocks noGrp="1"/>
          </p:cNvSpPr>
          <p:nvPr/>
        </p:nvSpPr>
        <p:spPr>
          <a:xfrm>
            <a:off x="198120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A428AA-785A-4655-BBFB-27C544EF4E3B}"/>
              </a:ext>
            </a:extLst>
          </p:cNvPr>
          <p:cNvSpPr>
            <a:spLocks noGrp="1"/>
          </p:cNvSpPr>
          <p:nvPr/>
        </p:nvSpPr>
        <p:spPr>
          <a:xfrm>
            <a:off x="179070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关系模型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E4C4AB0-8827-429C-AAE9-D4E1D7BBC1A6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5DE6DA-3722-454E-B1E3-4A3BE5DA9EC3}"/>
              </a:ext>
            </a:extLst>
          </p:cNvPr>
          <p:cNvSpPr>
            <a:spLocks noGrp="1"/>
          </p:cNvSpPr>
          <p:nvPr/>
        </p:nvSpPr>
        <p:spPr>
          <a:xfrm>
            <a:off x="314325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AB3106-6995-4E5F-97B6-8F9D5A841582}"/>
              </a:ext>
            </a:extLst>
          </p:cNvPr>
          <p:cNvSpPr>
            <a:spLocks noGrp="1"/>
          </p:cNvSpPr>
          <p:nvPr/>
        </p:nvSpPr>
        <p:spPr>
          <a:xfrm>
            <a:off x="295275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SQL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7 节点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5328A29-3FC6-402A-84E8-F82FC4721221}"/>
              </a:ext>
            </a:extLst>
          </p:cNvPr>
          <p:cNvSpPr>
            <a:spLocks noGrp="1"/>
          </p:cNvSpPr>
          <p:nvPr/>
        </p:nvSpPr>
        <p:spPr>
          <a:xfrm>
            <a:off x="430530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A46AB4-FD3C-43EE-8361-C9597EFD73BF}"/>
              </a:ext>
            </a:extLst>
          </p:cNvPr>
          <p:cNvSpPr>
            <a:spLocks noGrp="1"/>
          </p:cNvSpPr>
          <p:nvPr/>
        </p:nvSpPr>
        <p:spPr>
          <a:xfrm>
            <a:off x="430530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146336-003A-4B5C-A318-D5DBC6BF48DA}"/>
              </a:ext>
            </a:extLst>
          </p:cNvPr>
          <p:cNvSpPr>
            <a:spLocks noGrp="1"/>
          </p:cNvSpPr>
          <p:nvPr/>
        </p:nvSpPr>
        <p:spPr>
          <a:xfrm>
            <a:off x="411480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概念设计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6B7E55A-E8F4-48D6-945A-34135659055A}"/>
              </a:ext>
            </a:extLst>
          </p:cNvPr>
          <p:cNvSpPr>
            <a:spLocks noGrp="1"/>
          </p:cNvSpPr>
          <p:nvPr/>
        </p:nvSpPr>
        <p:spPr>
          <a:xfrm>
            <a:off x="5467350" y="2952750"/>
            <a:ext cx="647700" cy="647700"/>
          </a:xfrm>
          <a:prstGeom prst="ellipse">
            <a:avLst/>
          </a:prstGeom>
          <a:solidFill>
            <a:srgbClr val="147D82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5A7D81-06C8-4715-BF6B-7F45D4F718F4}"/>
              </a:ext>
            </a:extLst>
          </p:cNvPr>
          <p:cNvSpPr>
            <a:spLocks noGrp="1"/>
          </p:cNvSpPr>
          <p:nvPr/>
        </p:nvSpPr>
        <p:spPr>
          <a:xfrm>
            <a:off x="546735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6FCEDF-4B02-43D0-8B9B-B3E6EEC6BE9C}"/>
              </a:ext>
            </a:extLst>
          </p:cNvPr>
          <p:cNvSpPr>
            <a:spLocks noGrp="1"/>
          </p:cNvSpPr>
          <p:nvPr/>
        </p:nvSpPr>
        <p:spPr>
          <a:xfrm>
            <a:off x="527685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规范化</a:t>
            </a:r>
          </a:p>
          <a:p>
            <a:pPr algn="ctr">
              <a:lnSpc>
                <a:spcPct val="112000"/>
              </a:lnSpc>
              <a:buNone/>
              <a:def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C3F7ABF-27BB-4BE3-B22C-EB5EF8C7EABE}"/>
              </a:ext>
            </a:extLst>
          </p:cNvPr>
          <p:cNvSpPr>
            <a:spLocks noGrp="1"/>
          </p:cNvSpPr>
          <p:nvPr/>
        </p:nvSpPr>
        <p:spPr>
          <a:xfrm>
            <a:off x="662940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0B459D-0095-412A-8CB6-14E6162E5604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EB70B7-2A40-4FE2-9DCB-20411B4C726B}"/>
              </a:ext>
            </a:extLst>
          </p:cNvPr>
          <p:cNvSpPr>
            <a:spLocks noGrp="1"/>
          </p:cNvSpPr>
          <p:nvPr/>
        </p:nvSpPr>
        <p:spPr>
          <a:xfrm>
            <a:off x="643890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事务并发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6 节点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3571DCE-51CB-4DBD-9078-8A71AB963668}"/>
              </a:ext>
            </a:extLst>
          </p:cNvPr>
          <p:cNvSpPr>
            <a:spLocks noGrp="1"/>
          </p:cNvSpPr>
          <p:nvPr/>
        </p:nvSpPr>
        <p:spPr>
          <a:xfrm>
            <a:off x="779145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B9C6D6-949A-47C9-BC9E-78F86712F3CE}"/>
              </a:ext>
            </a:extLst>
          </p:cNvPr>
          <p:cNvSpPr>
            <a:spLocks noGrp="1"/>
          </p:cNvSpPr>
          <p:nvPr/>
        </p:nvSpPr>
        <p:spPr>
          <a:xfrm>
            <a:off x="779145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M7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D9E4904-23B1-48CB-ADC1-0321602B7DA7}"/>
              </a:ext>
            </a:extLst>
          </p:cNvPr>
          <p:cNvSpPr>
            <a:spLocks noGrp="1"/>
          </p:cNvSpPr>
          <p:nvPr/>
        </p:nvSpPr>
        <p:spPr>
          <a:xfrm>
            <a:off x="760095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4 节点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60973FA-1586-43CB-AE85-0FBAB9E9B18C}"/>
              </a:ext>
            </a:extLst>
          </p:cNvPr>
          <p:cNvSpPr>
            <a:spLocks noGrp="1"/>
          </p:cNvSpPr>
          <p:nvPr/>
        </p:nvSpPr>
        <p:spPr>
          <a:xfrm>
            <a:off x="895350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18A07E-1302-4D21-9ACC-A1E0F1C5D8DF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46DEC72-BA65-46A4-ADF2-EC87B961A2F4}"/>
              </a:ext>
            </a:extLst>
          </p:cNvPr>
          <p:cNvSpPr>
            <a:spLocks noGrp="1"/>
          </p:cNvSpPr>
          <p:nvPr/>
        </p:nvSpPr>
        <p:spPr>
          <a:xfrm>
            <a:off x="876300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存储优化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5 节点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AE6FF57F-9887-4679-BEF8-071103A48BC7}"/>
              </a:ext>
            </a:extLst>
          </p:cNvPr>
          <p:cNvSpPr>
            <a:spLocks noGrp="1"/>
          </p:cNvSpPr>
          <p:nvPr/>
        </p:nvSpPr>
        <p:spPr>
          <a:xfrm>
            <a:off x="10115550" y="2952750"/>
            <a:ext cx="647700" cy="647700"/>
          </a:xfrm>
          <a:prstGeom prst="ellipse">
            <a:avLst/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465045-3220-42A7-BA60-07FD1822FE7A}"/>
              </a:ext>
            </a:extLst>
          </p:cNvPr>
          <p:cNvSpPr>
            <a:spLocks noGrp="1"/>
          </p:cNvSpPr>
          <p:nvPr/>
        </p:nvSpPr>
        <p:spPr>
          <a:xfrm>
            <a:off x="10115550" y="3105150"/>
            <a:ext cx="647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61284B4-478E-4726-8237-FC60E30BE039}"/>
              </a:ext>
            </a:extLst>
          </p:cNvPr>
          <p:cNvSpPr>
            <a:spLocks noGrp="1"/>
          </p:cNvSpPr>
          <p:nvPr/>
        </p:nvSpPr>
        <p:spPr>
          <a:xfrm>
            <a:off x="9925050" y="379095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安全完整性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4 节点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0D2DC8-A828-4F86-BF74-C33AC45B80E1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基础 → SQL 与设计 → 规范化 → 事务恢复 → 优化与安全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08C48D-2940-42F3-ACF7-CA426434B095}"/>
              </a:ext>
            </a:extLst>
          </p:cNvPr>
          <p:cNvSpPr>
            <a:spLocks noGrp="1"/>
          </p:cNvSpPr>
          <p:nvPr/>
        </p:nvSpPr>
        <p:spPr>
          <a:xfrm>
            <a:off x="1285875" y="5467350"/>
            <a:ext cx="962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719"/>
          </a:bodyPr>
          <a:lstStyle>
            <a:defPPr algn="ctr"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每个节点保存目标、难度、关键词、前置节点与来源编号</a:t>
            </a:r>
          </a:p>
        </p:txBody>
      </p:sp>
    </p:spTree>
    <p:extLst>
      <p:ext uri="{BB962C8B-B14F-4D97-AF65-F5344CB8AC3E}">
        <p14:creationId xmlns:p14="http://schemas.microsoft.com/office/powerpoint/2010/main" val="124385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6F2532BB-3A05-4704-92FC-484011D934C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掌握度决定补救优先级与路径顺序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603798-B3E7-421D-82EA-0E7D53A3F556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证据由正确率、提示独立性、回答质量和信心校准构成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57D471E-A2C0-46BA-B38F-74E520D3BFB8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881A64-3D82-4924-A2FD-75669857DB42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B7BDD9-A495-4168-9977-16AF61A07A54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证据分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9B163B-A303-46F3-BC8D-41727D275ED1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3190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443"/>
          </a:bodyPr>
          <a:lstStyle>
            <a:defPPr algn="l">
              <a:defRPr sz="19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0.60 × 正确率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593D0C-E9BA-419E-8CE7-AB9A482D133F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+ 0.15 × 提示独立性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B3A836-E82D-4442-BB94-A457245E3236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+ 0.15 × 回答质量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95777D-79E7-4FDB-B31D-5B6788386D7F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+ 0.10 × 信心校准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CBA49466-84D2-425E-B42E-ADB287E77827}"/>
              </a:ext>
            </a:extLst>
          </p:cNvPr>
          <p:cNvSpPr>
            <a:spLocks noGrp="1"/>
          </p:cNvSpPr>
          <p:nvPr/>
        </p:nvSpPr>
        <p:spPr>
          <a:xfrm>
            <a:off x="5715000" y="2047875"/>
            <a:ext cx="0" cy="276225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D287CE-838E-47D2-97AE-7BA546972C66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新掌握度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F5C2DD-653C-4126-AF58-372021077E7E}"/>
              </a:ext>
            </a:extLst>
          </p:cNvPr>
          <p:cNvSpPr>
            <a:spLocks noGrp="1"/>
          </p:cNvSpPr>
          <p:nvPr/>
        </p:nvSpPr>
        <p:spPr>
          <a:xfrm>
            <a:off x="6305550" y="271462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86"/>
          </a:bodyPr>
          <a:lstStyle>
            <a:defPPr algn="l">
              <a:def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0.70 × 旧值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807C18-DA76-4B14-8E77-06198D421F69}"/>
              </a:ext>
            </a:extLst>
          </p:cNvPr>
          <p:cNvSpPr>
            <a:spLocks noGrp="1"/>
          </p:cNvSpPr>
          <p:nvPr/>
        </p:nvSpPr>
        <p:spPr>
          <a:xfrm>
            <a:off x="6305550" y="3209925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+ 0.30 × 本次证据分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9D7C5F-AEF4-49B4-81CB-1B9A6DD9537E}"/>
              </a:ext>
            </a:extLst>
          </p:cNvPr>
          <p:cNvSpPr>
            <a:spLocks noGrp="1"/>
          </p:cNvSpPr>
          <p:nvPr/>
        </p:nvSpPr>
        <p:spPr>
          <a:xfrm>
            <a:off x="6305550" y="39243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候选点 &lt; 80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C41716-E3F9-481D-BA95-8789C9BA2BE8}"/>
              </a:ext>
            </a:extLst>
          </p:cNvPr>
          <p:cNvSpPr>
            <a:spLocks noGrp="1"/>
          </p:cNvSpPr>
          <p:nvPr/>
        </p:nvSpPr>
        <p:spPr>
          <a:xfrm>
            <a:off x="6305550" y="4381500"/>
            <a:ext cx="457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先按掌握度排序，再补未掌握前置节点；最多 8 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329CA4-3EE1-49D2-80A0-08AFCAFAC048}"/>
              </a:ext>
            </a:extLst>
          </p:cNvPr>
          <p:cNvSpPr>
            <a:spLocks noGrp="1"/>
          </p:cNvSpPr>
          <p:nvPr/>
        </p:nvSpPr>
        <p:spPr>
          <a:xfrm>
            <a:off x="1238250" y="541020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6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6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低于 60：补救        60–79：巩固        80 及以上：掌握</a:t>
            </a:r>
          </a:p>
        </p:txBody>
      </p:sp>
    </p:spTree>
    <p:extLst>
      <p:ext uri="{BB962C8B-B14F-4D97-AF65-F5344CB8AC3E}">
        <p14:creationId xmlns:p14="http://schemas.microsoft.com/office/powerpoint/2010/main" val="134983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4C8FE711-FD6A-4980-B9D2-688E4B18322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12 个智能体角色分工清晰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E2E4C3-6ECC-4257-A6E3-DA788A3902E6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资源工作流由编排器组织，经审核后返回客户端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FA72ACBF-6675-41F4-A4DA-9D99256D73CA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9E9DAD-3DEE-49E3-AFB7-20A9F4B39113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1DE8D1-CC86-4CC4-A71C-6504C0A727A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25452D-BD3E-4BB8-BAD6-2E9DA9278B9F}"/>
              </a:ext>
            </a:extLst>
          </p:cNvPr>
          <p:cNvSpPr>
            <a:spLocks noGrp="1"/>
          </p:cNvSpPr>
          <p:nvPr/>
        </p:nvSpPr>
        <p:spPr>
          <a:xfrm>
            <a:off x="1295400" y="194310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320D91-8A0D-47A2-BB2D-5D7BE39E7770}"/>
              </a:ext>
            </a:extLst>
          </p:cNvPr>
          <p:cNvSpPr>
            <a:spLocks noGrp="1"/>
          </p:cNvSpPr>
          <p:nvPr/>
        </p:nvSpPr>
        <p:spPr>
          <a:xfrm>
            <a:off x="1295400" y="221932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控制流程与失败降级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F95D8F-D8F4-45BB-9DA0-0219F7588B5D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916A4F-B66E-4F48-A846-149E10B99B57}"/>
              </a:ext>
            </a:extLst>
          </p:cNvPr>
          <p:cNvSpPr>
            <a:spLocks noGrp="1"/>
          </p:cNvSpPr>
          <p:nvPr/>
        </p:nvSpPr>
        <p:spPr>
          <a:xfrm>
            <a:off x="1295400" y="257175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ProfileAgent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1AF953-480B-4C81-B82B-0DE043D042DE}"/>
              </a:ext>
            </a:extLst>
          </p:cNvPr>
          <p:cNvSpPr>
            <a:spLocks noGrp="1"/>
          </p:cNvSpPr>
          <p:nvPr/>
        </p:nvSpPr>
        <p:spPr>
          <a:xfrm>
            <a:off x="1295400" y="284797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整理八维学习画像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8DFA53-6027-4606-AA85-656FD10436ED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A0F684-CF5D-4C61-A923-9879C83E6906}"/>
              </a:ext>
            </a:extLst>
          </p:cNvPr>
          <p:cNvSpPr>
            <a:spLocks noGrp="1"/>
          </p:cNvSpPr>
          <p:nvPr/>
        </p:nvSpPr>
        <p:spPr>
          <a:xfrm>
            <a:off x="1295400" y="320040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DiagnosisAgent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3B49E9-0C49-4491-B204-E20116DEE91E}"/>
              </a:ext>
            </a:extLst>
          </p:cNvPr>
          <p:cNvSpPr>
            <a:spLocks noGrp="1"/>
          </p:cNvSpPr>
          <p:nvPr/>
        </p:nvSpPr>
        <p:spPr>
          <a:xfrm>
            <a:off x="1295400" y="347662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定位断点和错误模式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299368-9CF6-461C-89F1-4F6BED96C756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8BB366-B950-40C9-8E8A-468C5DA94061}"/>
              </a:ext>
            </a:extLst>
          </p:cNvPr>
          <p:cNvSpPr>
            <a:spLocks noGrp="1"/>
          </p:cNvSpPr>
          <p:nvPr/>
        </p:nvSpPr>
        <p:spPr>
          <a:xfrm>
            <a:off x="1295400" y="382905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PathAgent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7815D9-CDEE-4C9B-8226-0E4521AE4BBA}"/>
              </a:ext>
            </a:extLst>
          </p:cNvPr>
          <p:cNvSpPr>
            <a:spLocks noGrp="1"/>
          </p:cNvSpPr>
          <p:nvPr/>
        </p:nvSpPr>
        <p:spPr>
          <a:xfrm>
            <a:off x="1295400" y="410527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规划学习顺序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B35485-1FD4-49D3-86B4-765866ED064D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5EB659-CC76-4603-AF59-7D166AB6765A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DocumentAgent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BA32F2-86E9-4650-97D4-0FE732293413}"/>
              </a:ext>
            </a:extLst>
          </p:cNvPr>
          <p:cNvSpPr>
            <a:spLocks noGrp="1"/>
          </p:cNvSpPr>
          <p:nvPr/>
        </p:nvSpPr>
        <p:spPr>
          <a:xfrm>
            <a:off x="1295400" y="473392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生成讲解文档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A259A65-F00A-469C-89B6-5C98DAF8C3D2}"/>
              </a:ext>
            </a:extLst>
          </p:cNvPr>
          <p:cNvSpPr>
            <a:spLocks noGrp="1"/>
          </p:cNvSpPr>
          <p:nvPr/>
        </p:nvSpPr>
        <p:spPr>
          <a:xfrm>
            <a:off x="838200" y="50863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4812C1-1B71-4552-BFFF-B3937A3CC52C}"/>
              </a:ext>
            </a:extLst>
          </p:cNvPr>
          <p:cNvSpPr>
            <a:spLocks noGrp="1"/>
          </p:cNvSpPr>
          <p:nvPr/>
        </p:nvSpPr>
        <p:spPr>
          <a:xfrm>
            <a:off x="1295400" y="508635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DiagramAgent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061A21-1E24-4577-873D-452AD1037309}"/>
              </a:ext>
            </a:extLst>
          </p:cNvPr>
          <p:cNvSpPr>
            <a:spLocks noGrp="1"/>
          </p:cNvSpPr>
          <p:nvPr/>
        </p:nvSpPr>
        <p:spPr>
          <a:xfrm>
            <a:off x="1295400" y="536257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生成知识图解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6B6DCC-A2BD-4AB2-BDFD-A1E4F5E5F2C1}"/>
              </a:ext>
            </a:extLst>
          </p:cNvPr>
          <p:cNvSpPr>
            <a:spLocks noGrp="1"/>
          </p:cNvSpPr>
          <p:nvPr/>
        </p:nvSpPr>
        <p:spPr>
          <a:xfrm>
            <a:off x="6305550" y="19431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C97456-0383-4827-A056-761A7DF2AA81}"/>
              </a:ext>
            </a:extLst>
          </p:cNvPr>
          <p:cNvSpPr>
            <a:spLocks noGrp="1"/>
          </p:cNvSpPr>
          <p:nvPr/>
        </p:nvSpPr>
        <p:spPr>
          <a:xfrm>
            <a:off x="6762750" y="194310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QuizAgent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5D47E5-3EAA-441A-85D8-9804CC1581E3}"/>
              </a:ext>
            </a:extLst>
          </p:cNvPr>
          <p:cNvSpPr>
            <a:spLocks noGrp="1"/>
          </p:cNvSpPr>
          <p:nvPr/>
        </p:nvSpPr>
        <p:spPr>
          <a:xfrm>
            <a:off x="6762750" y="221932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生成分层练习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809AB5-2395-4709-8FB2-C164CDBE05BE}"/>
              </a:ext>
            </a:extLst>
          </p:cNvPr>
          <p:cNvSpPr>
            <a:spLocks noGrp="1"/>
          </p:cNvSpPr>
          <p:nvPr/>
        </p:nvSpPr>
        <p:spPr>
          <a:xfrm>
            <a:off x="6305550" y="25717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8D88FE-29A5-42E4-A3AD-1E1797CD4D57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SQLLabAgent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2C34E58-9E25-4E1F-9125-67D7FAF4C9DB}"/>
              </a:ext>
            </a:extLst>
          </p:cNvPr>
          <p:cNvSpPr>
            <a:spLocks noGrp="1"/>
          </p:cNvSpPr>
          <p:nvPr/>
        </p:nvSpPr>
        <p:spPr>
          <a:xfrm>
            <a:off x="6762750" y="284797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 SQL 实操任务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0861B8-DF6D-4522-B630-AA4C51DD317D}"/>
              </a:ext>
            </a:extLst>
          </p:cNvPr>
          <p:cNvSpPr>
            <a:spLocks noGrp="1"/>
          </p:cNvSpPr>
          <p:nvPr/>
        </p:nvSpPr>
        <p:spPr>
          <a:xfrm>
            <a:off x="6305550" y="32004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3A36DA-03E0-43BC-86AE-6AED8F77472F}"/>
              </a:ext>
            </a:extLst>
          </p:cNvPr>
          <p:cNvSpPr>
            <a:spLocks noGrp="1"/>
          </p:cNvSpPr>
          <p:nvPr/>
        </p:nvSpPr>
        <p:spPr>
          <a:xfrm>
            <a:off x="6762750" y="320040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ReadingAgent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AB33C2-6455-4999-AA63-9BAC94043B9C}"/>
              </a:ext>
            </a:extLst>
          </p:cNvPr>
          <p:cNvSpPr>
            <a:spLocks noGrp="1"/>
          </p:cNvSpPr>
          <p:nvPr/>
        </p:nvSpPr>
        <p:spPr>
          <a:xfrm>
            <a:off x="6762750" y="347662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生成复习材料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21B169-3C22-480D-8D89-6C93D60B4FE8}"/>
              </a:ext>
            </a:extLst>
          </p:cNvPr>
          <p:cNvSpPr>
            <a:spLocks noGrp="1"/>
          </p:cNvSpPr>
          <p:nvPr/>
        </p:nvSpPr>
        <p:spPr>
          <a:xfrm>
            <a:off x="6305550" y="38290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0333173-6596-4F75-9D29-3A4CE2579935}"/>
              </a:ext>
            </a:extLst>
          </p:cNvPr>
          <p:cNvSpPr>
            <a:spLocks noGrp="1"/>
          </p:cNvSpPr>
          <p:nvPr/>
        </p:nvSpPr>
        <p:spPr>
          <a:xfrm>
            <a:off x="6762750" y="382905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ReviewAgent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9968FFA-3713-4D4E-9DEE-DD4F07E25C2E}"/>
              </a:ext>
            </a:extLst>
          </p:cNvPr>
          <p:cNvSpPr>
            <a:spLocks noGrp="1"/>
          </p:cNvSpPr>
          <p:nvPr/>
        </p:nvSpPr>
        <p:spPr>
          <a:xfrm>
            <a:off x="6762750" y="410527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检查事实、来源与安全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AA90128-834A-4AA6-8619-E0688598019A}"/>
              </a:ext>
            </a:extLst>
          </p:cNvPr>
          <p:cNvSpPr>
            <a:spLocks noGrp="1"/>
          </p:cNvSpPr>
          <p:nvPr/>
        </p:nvSpPr>
        <p:spPr>
          <a:xfrm>
            <a:off x="6305550" y="44577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E861BC-FE78-4614-A84A-DD0C8EB58266}"/>
              </a:ext>
            </a:extLst>
          </p:cNvPr>
          <p:cNvSpPr>
            <a:spLocks noGrp="1"/>
          </p:cNvSpPr>
          <p:nvPr/>
        </p:nvSpPr>
        <p:spPr>
          <a:xfrm>
            <a:off x="6762750" y="445770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TutorAgent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74F560-928F-4008-BB41-5CC434994DAA}"/>
              </a:ext>
            </a:extLst>
          </p:cNvPr>
          <p:cNvSpPr>
            <a:spLocks noGrp="1"/>
          </p:cNvSpPr>
          <p:nvPr/>
        </p:nvSpPr>
        <p:spPr>
          <a:xfrm>
            <a:off x="6762750" y="473392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提供课程证据问答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5EFD94D-2279-4AC8-BC62-32EA647B3423}"/>
              </a:ext>
            </a:extLst>
          </p:cNvPr>
          <p:cNvSpPr>
            <a:spLocks noGrp="1"/>
          </p:cNvSpPr>
          <p:nvPr/>
        </p:nvSpPr>
        <p:spPr>
          <a:xfrm>
            <a:off x="6305550" y="50863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66"/>
          </a:bodyPr>
          <a:lstStyle>
            <a:defPPr algn="l"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41FE635-865E-4A0C-8713-BADDD8505DCF}"/>
              </a:ext>
            </a:extLst>
          </p:cNvPr>
          <p:cNvSpPr>
            <a:spLocks noGrp="1"/>
          </p:cNvSpPr>
          <p:nvPr/>
        </p:nvSpPr>
        <p:spPr>
          <a:xfrm>
            <a:off x="6762750" y="5086350"/>
            <a:ext cx="2190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822"/>
          </a:bodyPr>
          <a:lstStyle>
            <a:defPPr algn="l"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EvaluationAgent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C2746D4-AE0E-45EC-B930-401CB9E7682C}"/>
              </a:ext>
            </a:extLst>
          </p:cNvPr>
          <p:cNvSpPr>
            <a:spLocks noGrp="1"/>
          </p:cNvSpPr>
          <p:nvPr/>
        </p:nvSpPr>
        <p:spPr>
          <a:xfrm>
            <a:off x="6762750" y="5362575"/>
            <a:ext cx="4048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155"/>
          </a:bodyPr>
          <a:lstStyle>
            <a:defPPr algn="l"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评估证据并更新路径</a:t>
            </a:r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CC39A394-2A83-46BB-8570-EA112C004288}"/>
              </a:ext>
            </a:extLst>
          </p:cNvPr>
          <p:cNvSpPr>
            <a:spLocks noGrp="1"/>
          </p:cNvSpPr>
          <p:nvPr/>
        </p:nvSpPr>
        <p:spPr>
          <a:xfrm>
            <a:off x="5943600" y="1952625"/>
            <a:ext cx="0" cy="3667125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636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0DB05B5-FEF4-4DF9-9EA6-F626B3BE15B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客户端、API 与隔离执行层解耦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D690E1-ED1A-4FC6-A932-C1161D57C071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客户端只访问服务端 API；模型密钥不进入 APK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732EF63-8E17-4943-B2F6-1CAAD9AA5AE8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8BD013-E514-409B-AA5A-172DCAA41763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C132AFC-4386-444D-A587-E4D3D8CE7DFF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3143250" cy="838200"/>
          </a:xfrm>
          <a:prstGeom prst="roundRect">
            <a:avLst>
              <a:gd name="adj" fmla="val 9091"/>
            </a:avLst>
          </a:prstGeom>
          <a:solidFill>
            <a:srgbClr val="18324B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3E4AB9-882B-478C-B62F-4C899A8186C7}"/>
              </a:ext>
            </a:extLst>
          </p:cNvPr>
          <p:cNvSpPr>
            <a:spLocks noGrp="1"/>
          </p:cNvSpPr>
          <p:nvPr/>
        </p:nvSpPr>
        <p:spPr>
          <a:xfrm>
            <a:off x="1266825" y="23431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751"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Expo 客户端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E16F83-D98F-40CC-913F-8A4B75260DF4}"/>
              </a:ext>
            </a:extLst>
          </p:cNvPr>
          <p:cNvSpPr>
            <a:spLocks noGrp="1"/>
          </p:cNvSpPr>
          <p:nvPr/>
        </p:nvSpPr>
        <p:spPr>
          <a:xfrm>
            <a:off x="1257300" y="2724150"/>
            <a:ext cx="2876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615"/>
          </a:bodyPr>
          <a:lstStyle>
            <a:defPPr algn="ctr"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rPr>
              <a:t>Android 与 Web 共用路由和组件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253D8DA-F292-4931-B9DF-0C5B263C7889}"/>
              </a:ext>
            </a:extLst>
          </p:cNvPr>
          <p:cNvSpPr>
            <a:spLocks noGrp="1"/>
          </p:cNvSpPr>
          <p:nvPr/>
        </p:nvSpPr>
        <p:spPr>
          <a:xfrm>
            <a:off x="5410200" y="2190750"/>
            <a:ext cx="2743200" cy="838200"/>
          </a:xfrm>
          <a:prstGeom prst="roundRect">
            <a:avLst>
              <a:gd name="adj" fmla="val 9091"/>
            </a:avLst>
          </a:prstGeom>
          <a:solidFill>
            <a:srgbClr val="147D82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180DB3-575C-4769-96BB-3C17040F136A}"/>
              </a:ext>
            </a:extLst>
          </p:cNvPr>
          <p:cNvSpPr>
            <a:spLocks noGrp="1"/>
          </p:cNvSpPr>
          <p:nvPr/>
        </p:nvSpPr>
        <p:spPr>
          <a:xfrm>
            <a:off x="5553075" y="2343150"/>
            <a:ext cx="2457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751"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Hono API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AC3FA4-02C4-4D17-82B3-F67C39FE2B6D}"/>
              </a:ext>
            </a:extLst>
          </p:cNvPr>
          <p:cNvSpPr>
            <a:spLocks noGrp="1"/>
          </p:cNvSpPr>
          <p:nvPr/>
        </p:nvSpPr>
        <p:spPr>
          <a:xfrm>
            <a:off x="5543550" y="272415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615"/>
          </a:bodyPr>
          <a:lstStyle>
            <a:defPPr algn="ctr"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rPr>
              <a:t>Zod 校验 · REST 请求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D5974E-1E88-486B-9760-FD516A355217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2238375" cy="838200"/>
          </a:xfrm>
          <a:prstGeom prst="roundRect">
            <a:avLst>
              <a:gd name="adj" fmla="val 9091"/>
            </a:avLst>
          </a:prstGeom>
          <a:solidFill>
            <a:srgbClr val="4E677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F332DF-D8C4-4CA0-9722-5F9E0BC56F3D}"/>
              </a:ext>
            </a:extLst>
          </p:cNvPr>
          <p:cNvSpPr>
            <a:spLocks noGrp="1"/>
          </p:cNvSpPr>
          <p:nvPr/>
        </p:nvSpPr>
        <p:spPr>
          <a:xfrm>
            <a:off x="9286875" y="2343150"/>
            <a:ext cx="1952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751"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64D3D6-EA1A-48C1-9A73-97EBABD987C3}"/>
              </a:ext>
            </a:extLst>
          </p:cNvPr>
          <p:cNvSpPr>
            <a:spLocks noGrp="1"/>
          </p:cNvSpPr>
          <p:nvPr/>
        </p:nvSpPr>
        <p:spPr>
          <a:xfrm>
            <a:off x="9277350" y="2724150"/>
            <a:ext cx="19716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1615"/>
          </a:bodyPr>
          <a:lstStyle>
            <a:defPPr algn="ctr"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8F0F1"/>
                </a:solidFill>
                <a:latin typeface="Microsoft YaHei"/>
                <a:ea typeface="Microsoft YaHei"/>
                <a:cs typeface="Microsoft YaHei"/>
              </a:rPr>
              <a:t>工作流与检查点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EA766D95-C50C-4060-A235-F37FCC3287E2}"/>
              </a:ext>
            </a:extLst>
          </p:cNvPr>
          <p:cNvSpPr>
            <a:spLocks noGrp="1"/>
          </p:cNvSpPr>
          <p:nvPr/>
        </p:nvSpPr>
        <p:spPr>
          <a:xfrm>
            <a:off x="4267200" y="2609850"/>
            <a:ext cx="1143000" cy="0"/>
          </a:xfrm>
          <a:prstGeom prst="line">
            <a:avLst/>
          </a:prstGeom>
          <a:noFill/>
          <a:ln w="28575">
            <a:solidFill>
              <a:srgbClr val="147D82"/>
            </a:solidFill>
            <a:prstDash val="solid"/>
          </a:ln>
        </p:spPr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0E1153D2-7708-4923-B794-D3EC113A5C6C}"/>
              </a:ext>
            </a:extLst>
          </p:cNvPr>
          <p:cNvSpPr>
            <a:spLocks noGrp="1"/>
          </p:cNvSpPr>
          <p:nvPr/>
        </p:nvSpPr>
        <p:spPr>
          <a:xfrm>
            <a:off x="8153400" y="2609850"/>
            <a:ext cx="990600" cy="0"/>
          </a:xfrm>
          <a:prstGeom prst="line">
            <a:avLst/>
          </a:prstGeom>
          <a:noFill/>
          <a:ln w="28575">
            <a:solidFill>
              <a:srgbClr val="147D82"/>
            </a:solidFill>
            <a:prstDash val="solid"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6FB7333-185F-4531-8055-00484B379BC3}"/>
              </a:ext>
            </a:extLst>
          </p:cNvPr>
          <p:cNvSpPr>
            <a:spLocks noGrp="1"/>
          </p:cNvSpPr>
          <p:nvPr/>
        </p:nvSpPr>
        <p:spPr>
          <a:xfrm>
            <a:off x="2695575" y="3028950"/>
            <a:ext cx="0" cy="91440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1FB303-2E44-449F-8D55-807692E46298}"/>
              </a:ext>
            </a:extLst>
          </p:cNvPr>
          <p:cNvSpPr>
            <a:spLocks noGrp="1"/>
          </p:cNvSpPr>
          <p:nvPr/>
        </p:nvSpPr>
        <p:spPr>
          <a:xfrm>
            <a:off x="1123950" y="3943350"/>
            <a:ext cx="31432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5DF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69C27F-4A0F-4B91-BE98-9E2E1FED4A3D}"/>
              </a:ext>
            </a:extLst>
          </p:cNvPr>
          <p:cNvSpPr>
            <a:spLocks noGrp="1"/>
          </p:cNvSpPr>
          <p:nvPr/>
        </p:nvSpPr>
        <p:spPr>
          <a:xfrm>
            <a:off x="1238250" y="4067175"/>
            <a:ext cx="2914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375"/>
          </a:bodyPr>
          <a:lstStyle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Course Data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4C4CD4-1601-499A-91A5-7594F37C0993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565"/>
          </a:bodyPr>
          <a:lstStyle>
            <a:defPPr algn="ctr"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45 节点 · 前置关系 · 来源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585876FA-5A49-4376-921F-3DF36C787750}"/>
              </a:ext>
            </a:extLst>
          </p:cNvPr>
          <p:cNvSpPr>
            <a:spLocks noGrp="1"/>
          </p:cNvSpPr>
          <p:nvPr/>
        </p:nvSpPr>
        <p:spPr>
          <a:xfrm>
            <a:off x="6781800" y="3028950"/>
            <a:ext cx="0" cy="91440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D7B4BB5-CE28-4788-A083-9EB6ED3D3C04}"/>
              </a:ext>
            </a:extLst>
          </p:cNvPr>
          <p:cNvSpPr>
            <a:spLocks noGrp="1"/>
          </p:cNvSpPr>
          <p:nvPr/>
        </p:nvSpPr>
        <p:spPr>
          <a:xfrm>
            <a:off x="5410200" y="3943350"/>
            <a:ext cx="27432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5DF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ADDCA6A-68EC-4D99-9F74-E796FFE6D1F2}"/>
              </a:ext>
            </a:extLst>
          </p:cNvPr>
          <p:cNvSpPr>
            <a:spLocks noGrp="1"/>
          </p:cNvSpPr>
          <p:nvPr/>
        </p:nvSpPr>
        <p:spPr>
          <a:xfrm>
            <a:off x="5524500" y="4067175"/>
            <a:ext cx="25146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375"/>
          </a:bodyPr>
          <a:lstStyle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sql.js Worker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292B0D-6361-4166-A2D3-A4CE6E6ED7F2}"/>
              </a:ext>
            </a:extLst>
          </p:cNvPr>
          <p:cNvSpPr>
            <a:spLocks noGrp="1"/>
          </p:cNvSpPr>
          <p:nvPr/>
        </p:nvSpPr>
        <p:spPr>
          <a:xfrm>
            <a:off x="5524500" y="44005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565"/>
          </a:bodyPr>
          <a:lstStyle>
            <a:defPPr algn="ctr"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隔离的内存教学数据库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5A02A883-6505-4637-8E55-F1184AA29427}"/>
              </a:ext>
            </a:extLst>
          </p:cNvPr>
          <p:cNvSpPr>
            <a:spLocks noGrp="1"/>
          </p:cNvSpPr>
          <p:nvPr/>
        </p:nvSpPr>
        <p:spPr>
          <a:xfrm>
            <a:off x="10263188" y="3028950"/>
            <a:ext cx="0" cy="91440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5A4DE2D-B30F-4B59-AAA3-ADA8C4B72708}"/>
              </a:ext>
            </a:extLst>
          </p:cNvPr>
          <p:cNvSpPr>
            <a:spLocks noGrp="1"/>
          </p:cNvSpPr>
          <p:nvPr/>
        </p:nvSpPr>
        <p:spPr>
          <a:xfrm>
            <a:off x="9144000" y="3943350"/>
            <a:ext cx="2238375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5DFE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5EFD11-7CE3-49A5-B36B-7DA99C8E56A3}"/>
              </a:ext>
            </a:extLst>
          </p:cNvPr>
          <p:cNvSpPr>
            <a:spLocks noGrp="1"/>
          </p:cNvSpPr>
          <p:nvPr/>
        </p:nvSpPr>
        <p:spPr>
          <a:xfrm>
            <a:off x="9258300" y="4067175"/>
            <a:ext cx="2009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375"/>
          </a:bodyPr>
          <a:lstStyle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2A6A8D-5B49-43C0-83FB-ABBBB6127633}"/>
              </a:ext>
            </a:extLst>
          </p:cNvPr>
          <p:cNvSpPr>
            <a:spLocks noGrp="1"/>
          </p:cNvSpPr>
          <p:nvPr/>
        </p:nvSpPr>
        <p:spPr>
          <a:xfrm>
            <a:off x="9258300" y="4400550"/>
            <a:ext cx="2009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565"/>
          </a:bodyPr>
          <a:lstStyle>
            <a:defPPr algn="ctr"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服务端可选模型能力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1EC3749-B780-4266-830F-1FFDEA94A3D8}"/>
              </a:ext>
            </a:extLst>
          </p:cNvPr>
          <p:cNvSpPr>
            <a:spLocks noGrp="1"/>
          </p:cNvSpPr>
          <p:nvPr/>
        </p:nvSpPr>
        <p:spPr>
          <a:xfrm>
            <a:off x="1095375" y="5276850"/>
            <a:ext cx="1019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生产 API 运行在 Railway    ·    Web 托管于 EAS    ·    APK 由 EAS Build 生成</a:t>
            </a:r>
          </a:p>
        </p:txBody>
      </p:sp>
    </p:spTree>
    <p:extLst>
      <p:ext uri="{BB962C8B-B14F-4D97-AF65-F5344CB8AC3E}">
        <p14:creationId xmlns:p14="http://schemas.microsoft.com/office/powerpoint/2010/main" val="204935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7C91E6F-AD71-4E6E-A937-583DD8BE539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资源形式随学习目标和偏好调整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E165B-610E-47CB-A053-37C77DE3B4B3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每种资源都关联课程节点、难度、来源与个性化理由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BED2E36-C819-4D41-B200-406967B20C0E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000B25-346B-4B5F-908F-F65651BA6300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0E7138-DE4D-4193-B3E2-7F95B859B006}"/>
              </a:ext>
            </a:extLst>
          </p:cNvPr>
          <p:cNvSpPr>
            <a:spLocks noGrp="1"/>
          </p:cNvSpPr>
          <p:nvPr/>
        </p:nvSpPr>
        <p:spPr>
          <a:xfrm>
            <a:off x="933450" y="2047875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45D14D-FB1E-420E-B8E7-24B9D9DD1C51}"/>
              </a:ext>
            </a:extLst>
          </p:cNvPr>
          <p:cNvSpPr>
            <a:spLocks noGrp="1"/>
          </p:cNvSpPr>
          <p:nvPr/>
        </p:nvSpPr>
        <p:spPr>
          <a:xfrm>
            <a:off x="1524000" y="202882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讲解文档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E80BCEC2-27D1-4BD2-81C4-8F7E340DBDC3}"/>
              </a:ext>
            </a:extLst>
          </p:cNvPr>
          <p:cNvSpPr>
            <a:spLocks noGrp="1"/>
          </p:cNvSpPr>
          <p:nvPr/>
        </p:nvSpPr>
        <p:spPr>
          <a:xfrm>
            <a:off x="933450" y="2486025"/>
            <a:ext cx="278130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045A51-F342-4A8B-98F4-1D2F049D959F}"/>
              </a:ext>
            </a:extLst>
          </p:cNvPr>
          <p:cNvSpPr>
            <a:spLocks noGrp="1"/>
          </p:cNvSpPr>
          <p:nvPr/>
        </p:nvSpPr>
        <p:spPr>
          <a:xfrm>
            <a:off x="933450" y="2619375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概念解释与校园案例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BB9577-E9C1-4C5A-82FC-023DC729DAB1}"/>
              </a:ext>
            </a:extLst>
          </p:cNvPr>
          <p:cNvSpPr>
            <a:spLocks noGrp="1"/>
          </p:cNvSpPr>
          <p:nvPr/>
        </p:nvSpPr>
        <p:spPr>
          <a:xfrm>
            <a:off x="4476750" y="2047875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5996CE-6B77-4E0A-9976-6680CF8E5679}"/>
              </a:ext>
            </a:extLst>
          </p:cNvPr>
          <p:cNvSpPr>
            <a:spLocks noGrp="1"/>
          </p:cNvSpPr>
          <p:nvPr/>
        </p:nvSpPr>
        <p:spPr>
          <a:xfrm>
            <a:off x="5067300" y="202882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知识图解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9C76CCDD-325B-4233-9F49-135E63427A3A}"/>
              </a:ext>
            </a:extLst>
          </p:cNvPr>
          <p:cNvSpPr>
            <a:spLocks noGrp="1"/>
          </p:cNvSpPr>
          <p:nvPr/>
        </p:nvSpPr>
        <p:spPr>
          <a:xfrm>
            <a:off x="4476750" y="2486025"/>
            <a:ext cx="278130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3ABBE9-4E4C-4388-93D0-1017AD90DB22}"/>
              </a:ext>
            </a:extLst>
          </p:cNvPr>
          <p:cNvSpPr>
            <a:spLocks noGrp="1"/>
          </p:cNvSpPr>
          <p:nvPr/>
        </p:nvSpPr>
        <p:spPr>
          <a:xfrm>
            <a:off x="4476750" y="2619375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关系结构和概念连接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4E7FD2-C8C1-4E2A-9CBA-19905C79DC92}"/>
              </a:ext>
            </a:extLst>
          </p:cNvPr>
          <p:cNvSpPr>
            <a:spLocks noGrp="1"/>
          </p:cNvSpPr>
          <p:nvPr/>
        </p:nvSpPr>
        <p:spPr>
          <a:xfrm>
            <a:off x="8020050" y="2047875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A74C8B-39D8-4D4E-B7CD-6F579C96A593}"/>
              </a:ext>
            </a:extLst>
          </p:cNvPr>
          <p:cNvSpPr>
            <a:spLocks noGrp="1"/>
          </p:cNvSpPr>
          <p:nvPr/>
        </p:nvSpPr>
        <p:spPr>
          <a:xfrm>
            <a:off x="8610600" y="202882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分层练习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E51C610F-AAD8-4357-8791-350E85B35B8B}"/>
              </a:ext>
            </a:extLst>
          </p:cNvPr>
          <p:cNvSpPr>
            <a:spLocks noGrp="1"/>
          </p:cNvSpPr>
          <p:nvPr/>
        </p:nvSpPr>
        <p:spPr>
          <a:xfrm>
            <a:off x="8020050" y="2486025"/>
            <a:ext cx="278130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0F8EC9-063C-4C07-A76E-A82AB7DB5168}"/>
              </a:ext>
            </a:extLst>
          </p:cNvPr>
          <p:cNvSpPr>
            <a:spLocks noGrp="1"/>
          </p:cNvSpPr>
          <p:nvPr/>
        </p:nvSpPr>
        <p:spPr>
          <a:xfrm>
            <a:off x="8020050" y="2619375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题目、答案与错因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7C73F1-EEAF-41D6-B190-AA0483232A6A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BF3544-6CE5-440B-BEA3-EB44247EBCF4}"/>
              </a:ext>
            </a:extLst>
          </p:cNvPr>
          <p:cNvSpPr>
            <a:spLocks noGrp="1"/>
          </p:cNvSpPr>
          <p:nvPr/>
        </p:nvSpPr>
        <p:spPr>
          <a:xfrm>
            <a:off x="1524000" y="36957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 实操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EF6FE180-AFBB-4020-9776-B98238B94BE6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278130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674848-651B-485A-873D-8C7E8CBAC65B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可运行查询任务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29C9C1-80F5-49F0-B531-482D4A4288A7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EAAE56-6B3D-4B39-801C-B50945A826A8}"/>
              </a:ext>
            </a:extLst>
          </p:cNvPr>
          <p:cNvSpPr>
            <a:spLocks noGrp="1"/>
          </p:cNvSpPr>
          <p:nvPr/>
        </p:nvSpPr>
        <p:spPr>
          <a:xfrm>
            <a:off x="5067300" y="36957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交互图解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26F43BD7-CBC2-457E-891B-0AEC0D370D91}"/>
              </a:ext>
            </a:extLst>
          </p:cNvPr>
          <p:cNvSpPr>
            <a:spLocks noGrp="1"/>
          </p:cNvSpPr>
          <p:nvPr/>
        </p:nvSpPr>
        <p:spPr>
          <a:xfrm>
            <a:off x="4476750" y="4152900"/>
            <a:ext cx="278130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5EBC71-D489-48FA-A431-D264F27AD415}"/>
              </a:ext>
            </a:extLst>
          </p:cNvPr>
          <p:cNvSpPr>
            <a:spLocks noGrp="1"/>
          </p:cNvSpPr>
          <p:nvPr/>
        </p:nvSpPr>
        <p:spPr>
          <a:xfrm>
            <a:off x="4476750" y="4286250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分步比较结构变化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E7DAB-D6B1-4A48-8A35-A8265D5CDD8B}"/>
              </a:ext>
            </a:extLst>
          </p:cNvPr>
          <p:cNvSpPr>
            <a:spLocks noGrp="1"/>
          </p:cNvSpPr>
          <p:nvPr/>
        </p:nvSpPr>
        <p:spPr>
          <a:xfrm>
            <a:off x="8020050" y="37147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B9F97-EF1C-4F59-97EA-E1162086FBBD}"/>
              </a:ext>
            </a:extLst>
          </p:cNvPr>
          <p:cNvSpPr>
            <a:spLocks noGrp="1"/>
          </p:cNvSpPr>
          <p:nvPr/>
        </p:nvSpPr>
        <p:spPr>
          <a:xfrm>
            <a:off x="8610600" y="36957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复习卡片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F7742412-205A-40B4-84CC-34DA3EA9D46E}"/>
              </a:ext>
            </a:extLst>
          </p:cNvPr>
          <p:cNvSpPr>
            <a:spLocks noGrp="1"/>
          </p:cNvSpPr>
          <p:nvPr/>
        </p:nvSpPr>
        <p:spPr>
          <a:xfrm>
            <a:off x="8020050" y="4152900"/>
            <a:ext cx="278130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EAE032-6576-4D24-AB37-9823EB7EE460}"/>
              </a:ext>
            </a:extLst>
          </p:cNvPr>
          <p:cNvSpPr>
            <a:spLocks noGrp="1"/>
          </p:cNvSpPr>
          <p:nvPr/>
        </p:nvSpPr>
        <p:spPr>
          <a:xfrm>
            <a:off x="8020050" y="4286250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概念与下一步建议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E15F23-EEBE-4CAA-8B91-A6CE77EC0348}"/>
              </a:ext>
            </a:extLst>
          </p:cNvPr>
          <p:cNvSpPr>
            <a:spLocks noGrp="1"/>
          </p:cNvSpPr>
          <p:nvPr/>
        </p:nvSpPr>
        <p:spPr>
          <a:xfrm>
            <a:off x="1257300" y="5429250"/>
            <a:ext cx="962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94"/>
          </a:bodyPr>
          <a:lstStyle>
            <a:defPPr algn="ctr"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资源通过审核后才标记为已审核；失败最多自动返工一次</a:t>
            </a:r>
          </a:p>
        </p:txBody>
      </p:sp>
    </p:spTree>
    <p:extLst>
      <p:ext uri="{BB962C8B-B14F-4D97-AF65-F5344CB8AC3E}">
        <p14:creationId xmlns:p14="http://schemas.microsoft.com/office/powerpoint/2010/main" val="135643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5A9F40C-36A8-41C6-B504-8C59AF0C6C5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生成内容有校验、审核和降级路径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487EED-77CE-499F-AE97-45F3C7A10E6C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线上模型不可用时仍保留可重复的演示能力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76E590B-4AB7-46CB-A611-2CE1E1036FB0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73217F-79F6-4977-B528-B77A75EF0BF7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F861C8-C61D-4C33-9C22-956C9C3C5B91}"/>
              </a:ext>
            </a:extLst>
          </p:cNvPr>
          <p:cNvSpPr>
            <a:spLocks noGrp="1"/>
          </p:cNvSpPr>
          <p:nvPr/>
        </p:nvSpPr>
        <p:spPr>
          <a:xfrm>
            <a:off x="800100" y="2228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F57E7D-DBFE-4B85-BD71-4D1561067A25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AA3FD-B303-46F2-BC40-32EAB66620A8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18764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输出结构符合契约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A66D7D4B-7625-4DC6-91FF-450C399887E7}"/>
              </a:ext>
            </a:extLst>
          </p:cNvPr>
          <p:cNvSpPr>
            <a:spLocks noGrp="1"/>
          </p:cNvSpPr>
          <p:nvPr/>
        </p:nvSpPr>
        <p:spPr>
          <a:xfrm>
            <a:off x="2628900" y="2809875"/>
            <a:ext cx="257175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FFBACF-F770-4F6D-B9FF-B2E6C7B67445}"/>
              </a:ext>
            </a:extLst>
          </p:cNvPr>
          <p:cNvSpPr>
            <a:spLocks noGrp="1"/>
          </p:cNvSpPr>
          <p:nvPr/>
        </p:nvSpPr>
        <p:spPr>
          <a:xfrm>
            <a:off x="2971800" y="2228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912E0B-A5D9-4D64-A30C-17DE000058CD}"/>
              </a:ext>
            </a:extLst>
          </p:cNvPr>
          <p:cNvSpPr>
            <a:spLocks noGrp="1"/>
          </p:cNvSpPr>
          <p:nvPr/>
        </p:nvSpPr>
        <p:spPr>
          <a:xfrm>
            <a:off x="2971800" y="26479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3A1DAA-B727-4782-9DD7-B69857C2156B}"/>
              </a:ext>
            </a:extLst>
          </p:cNvPr>
          <p:cNvSpPr>
            <a:spLocks noGrp="1"/>
          </p:cNvSpPr>
          <p:nvPr/>
        </p:nvSpPr>
        <p:spPr>
          <a:xfrm>
            <a:off x="2971800" y="3124200"/>
            <a:ext cx="18764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事实映射到课程节点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29E911C-BC25-4F85-AD7C-7FA02C521532}"/>
              </a:ext>
            </a:extLst>
          </p:cNvPr>
          <p:cNvSpPr>
            <a:spLocks noGrp="1"/>
          </p:cNvSpPr>
          <p:nvPr/>
        </p:nvSpPr>
        <p:spPr>
          <a:xfrm>
            <a:off x="4800600" y="2809875"/>
            <a:ext cx="257175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2AEBAC-D9D6-4C4E-AAC1-ED41561853C2}"/>
              </a:ext>
            </a:extLst>
          </p:cNvPr>
          <p:cNvSpPr>
            <a:spLocks noGrp="1"/>
          </p:cNvSpPr>
          <p:nvPr/>
        </p:nvSpPr>
        <p:spPr>
          <a:xfrm>
            <a:off x="5143500" y="2228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DA36DF-92FF-4898-BE24-84926F82A92D}"/>
              </a:ext>
            </a:extLst>
          </p:cNvPr>
          <p:cNvSpPr>
            <a:spLocks noGrp="1"/>
          </p:cNvSpPr>
          <p:nvPr/>
        </p:nvSpPr>
        <p:spPr>
          <a:xfrm>
            <a:off x="5143500" y="26479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E64A49-086F-4ADB-BC9B-938E861FCD85}"/>
              </a:ext>
            </a:extLst>
          </p:cNvPr>
          <p:cNvSpPr>
            <a:spLocks noGrp="1"/>
          </p:cNvSpPr>
          <p:nvPr/>
        </p:nvSpPr>
        <p:spPr>
          <a:xfrm>
            <a:off x="5143500" y="3124200"/>
            <a:ext cx="18764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难度与安全审核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1C8F839-48B5-4D05-8C2D-28B5583B91B3}"/>
              </a:ext>
            </a:extLst>
          </p:cNvPr>
          <p:cNvSpPr>
            <a:spLocks noGrp="1"/>
          </p:cNvSpPr>
          <p:nvPr/>
        </p:nvSpPr>
        <p:spPr>
          <a:xfrm>
            <a:off x="6972300" y="2809875"/>
            <a:ext cx="257175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B85923-0D49-444D-B236-A1C3740EABCB}"/>
              </a:ext>
            </a:extLst>
          </p:cNvPr>
          <p:cNvSpPr>
            <a:spLocks noGrp="1"/>
          </p:cNvSpPr>
          <p:nvPr/>
        </p:nvSpPr>
        <p:spPr>
          <a:xfrm>
            <a:off x="7315200" y="2228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96A629-E179-4F13-9581-6F7E9BB36C62}"/>
              </a:ext>
            </a:extLst>
          </p:cNvPr>
          <p:cNvSpPr>
            <a:spLocks noGrp="1"/>
          </p:cNvSpPr>
          <p:nvPr/>
        </p:nvSpPr>
        <p:spPr>
          <a:xfrm>
            <a:off x="7315200" y="26479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83FF85-CDF2-432C-8933-DBBF761B50A0}"/>
              </a:ext>
            </a:extLst>
          </p:cNvPr>
          <p:cNvSpPr>
            <a:spLocks noGrp="1"/>
          </p:cNvSpPr>
          <p:nvPr/>
        </p:nvSpPr>
        <p:spPr>
          <a:xfrm>
            <a:off x="7315200" y="3124200"/>
            <a:ext cx="18764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失败仅自动返工一次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FA8FE845-703F-4927-A1AA-E8EC19E1310A}"/>
              </a:ext>
            </a:extLst>
          </p:cNvPr>
          <p:cNvSpPr>
            <a:spLocks noGrp="1"/>
          </p:cNvSpPr>
          <p:nvPr/>
        </p:nvSpPr>
        <p:spPr>
          <a:xfrm>
            <a:off x="9144000" y="2809875"/>
            <a:ext cx="257175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E6ABBD-AE72-43B8-8627-02033A183FA3}"/>
              </a:ext>
            </a:extLst>
          </p:cNvPr>
          <p:cNvSpPr>
            <a:spLocks noGrp="1"/>
          </p:cNvSpPr>
          <p:nvPr/>
        </p:nvSpPr>
        <p:spPr>
          <a:xfrm>
            <a:off x="9486900" y="2228850"/>
            <a:ext cx="38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l"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636DB3-8FC2-4EA2-9A79-C5F846FF6731}"/>
              </a:ext>
            </a:extLst>
          </p:cNvPr>
          <p:cNvSpPr>
            <a:spLocks noGrp="1"/>
          </p:cNvSpPr>
          <p:nvPr/>
        </p:nvSpPr>
        <p:spPr>
          <a:xfrm>
            <a:off x="9486900" y="26479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476"/>
          </a:bodyPr>
          <a:lstStyle>
            <a:defPPr algn="l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C5343B-EE05-431F-AE88-E5DB306A08C8}"/>
              </a:ext>
            </a:extLst>
          </p:cNvPr>
          <p:cNvSpPr>
            <a:spLocks noGrp="1"/>
          </p:cNvSpPr>
          <p:nvPr/>
        </p:nvSpPr>
        <p:spPr>
          <a:xfrm>
            <a:off x="9486900" y="3124200"/>
            <a:ext cx="18764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返回确定性资源或错误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75CC8FCE-1008-4EC7-A8AD-44427B296990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10287000" cy="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6FDDA9-93E8-4A40-93BF-1BCA64978FC7}"/>
              </a:ext>
            </a:extLst>
          </p:cNvPr>
          <p:cNvSpPr>
            <a:spLocks noGrp="1"/>
          </p:cNvSpPr>
          <p:nvPr/>
        </p:nvSpPr>
        <p:spPr>
          <a:xfrm>
            <a:off x="1190625" y="47434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>
            <a:defPPr algn="ctr">
              <a:defRPr sz="18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8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DeepSeek 负责生成能力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079E8E2-8078-4786-81C3-1D9DAA112D92}"/>
              </a:ext>
            </a:extLst>
          </p:cNvPr>
          <p:cNvSpPr>
            <a:spLocks noGrp="1"/>
          </p:cNvSpPr>
          <p:nvPr/>
        </p:nvSpPr>
        <p:spPr>
          <a:xfrm>
            <a:off x="5962650" y="474345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确定性生成器负责模型不可用时的演示回退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CF3EAA-A2C4-4DD3-9231-40A9DBF692EB}"/>
              </a:ext>
            </a:extLst>
          </p:cNvPr>
          <p:cNvSpPr>
            <a:spLocks noGrp="1"/>
          </p:cNvSpPr>
          <p:nvPr/>
        </p:nvSpPr>
        <p:spPr>
          <a:xfrm>
            <a:off x="3476625" y="556260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1"/>
          </a:bodyPr>
          <a:lstStyle>
            <a:defPPr algn="ctr"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API Key 只保存在服务端环境变量</a:t>
            </a:r>
          </a:p>
        </p:txBody>
      </p:sp>
    </p:spTree>
    <p:extLst>
      <p:ext uri="{BB962C8B-B14F-4D97-AF65-F5344CB8AC3E}">
        <p14:creationId xmlns:p14="http://schemas.microsoft.com/office/powerpoint/2010/main" val="1856167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F52E3C0-7C44-479B-929F-F7BA6D437EB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SQL 实操运行在隔离的教学沙箱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D00387-4D0E-4D43-A278-0FD5307BF69C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教学查询不会连接生产业务数据库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67B7E0E-2FDD-43FD-82AB-F8F7E44D2A20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8C5603-9885-4498-91F3-855366B80D58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9F608A-EFDA-4FC9-A893-0EBAD7ABC988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客户端提交 SQL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7943FDE-BF9A-4945-B1E3-AFA0B4741E11}"/>
              </a:ext>
            </a:extLst>
          </p:cNvPr>
          <p:cNvSpPr>
            <a:spLocks noGrp="1"/>
          </p:cNvSpPr>
          <p:nvPr/>
        </p:nvSpPr>
        <p:spPr>
          <a:xfrm>
            <a:off x="4362450" y="2076450"/>
            <a:ext cx="3476625" cy="1657350"/>
          </a:xfrm>
          <a:prstGeom prst="roundRect">
            <a:avLst>
              <a:gd name="adj" fmla="val 5747"/>
            </a:avLst>
          </a:prstGeom>
          <a:solidFill>
            <a:srgbClr val="EAF2F3"/>
          </a:solidFill>
          <a:ln w="9525">
            <a:solidFill>
              <a:srgbClr val="147D8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2211DF-2179-429E-B748-59167F555095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2952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165"/>
          </a:bodyPr>
          <a:lstStyle>
            <a:defPPr algn="ctr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sql.js Worker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C5F0CF-9E08-4064-BC2D-074EA5EDC1A9}"/>
              </a:ext>
            </a:extLst>
          </p:cNvPr>
          <p:cNvSpPr>
            <a:spLocks noGrp="1"/>
          </p:cNvSpPr>
          <p:nvPr/>
        </p:nvSpPr>
        <p:spPr>
          <a:xfrm>
            <a:off x="4619625" y="2895600"/>
            <a:ext cx="29527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单条语句 · 2 秒超时</a:t>
            </a:r>
          </a:p>
          <a:p>
            <a:pPr algn="ctr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最多返回 200 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86BD5F-1D2A-4820-8FD1-8349E65FD00B}"/>
              </a:ext>
            </a:extLst>
          </p:cNvPr>
          <p:cNvSpPr>
            <a:spLocks noGrp="1"/>
          </p:cNvSpPr>
          <p:nvPr/>
        </p:nvSpPr>
        <p:spPr>
          <a:xfrm>
            <a:off x="8505825" y="2305050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结果与错误回传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D7DE6D5-B2F6-4A01-92B0-AF893C0FC104}"/>
              </a:ext>
            </a:extLst>
          </p:cNvPr>
          <p:cNvSpPr>
            <a:spLocks noGrp="1"/>
          </p:cNvSpPr>
          <p:nvPr/>
        </p:nvSpPr>
        <p:spPr>
          <a:xfrm>
            <a:off x="3724275" y="2705100"/>
            <a:ext cx="638175" cy="0"/>
          </a:xfrm>
          <a:prstGeom prst="line">
            <a:avLst/>
          </a:prstGeom>
          <a:noFill/>
          <a:ln w="28575">
            <a:solidFill>
              <a:srgbClr val="147D82"/>
            </a:solidFill>
            <a:prstDash val="solid"/>
          </a:ln>
        </p:spPr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9540A7A5-0907-4665-B6A5-7ECC74209439}"/>
              </a:ext>
            </a:extLst>
          </p:cNvPr>
          <p:cNvSpPr>
            <a:spLocks noGrp="1"/>
          </p:cNvSpPr>
          <p:nvPr/>
        </p:nvSpPr>
        <p:spPr>
          <a:xfrm>
            <a:off x="7839075" y="2705100"/>
            <a:ext cx="666750" cy="0"/>
          </a:xfrm>
          <a:prstGeom prst="line">
            <a:avLst/>
          </a:prstGeom>
          <a:noFill/>
          <a:ln w="28575">
            <a:solidFill>
              <a:srgbClr val="147D82"/>
            </a:solidFill>
            <a:prstDash val="solid"/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B8C5FA17-9BE1-476B-9942-532E1E95F1C8}"/>
              </a:ext>
            </a:extLst>
          </p:cNvPr>
          <p:cNvSpPr>
            <a:spLocks noGrp="1"/>
          </p:cNvSpPr>
          <p:nvPr/>
        </p:nvSpPr>
        <p:spPr>
          <a:xfrm>
            <a:off x="6067425" y="3743325"/>
            <a:ext cx="0" cy="809625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BE1A61-97D5-4E4F-9E32-799C1B1B2ED5}"/>
              </a:ext>
            </a:extLst>
          </p:cNvPr>
          <p:cNvSpPr>
            <a:spLocks noGrp="1"/>
          </p:cNvSpPr>
          <p:nvPr/>
        </p:nvSpPr>
        <p:spPr>
          <a:xfrm>
            <a:off x="3619500" y="471487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524"/>
          </a:bodyPr>
          <a:lstStyle>
            <a:defPPr algn="ctr"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拒绝危险能力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C3682D-33E9-462B-8C20-CDD4CB89AE58}"/>
              </a:ext>
            </a:extLst>
          </p:cNvPr>
          <p:cNvSpPr>
            <a:spLocks noGrp="1"/>
          </p:cNvSpPr>
          <p:nvPr/>
        </p:nvSpPr>
        <p:spPr>
          <a:xfrm>
            <a:off x="1952625" y="5210175"/>
            <a:ext cx="828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575" b="0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575" b="0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拒绝 ATTACH、PRAGMA、事务控制及扩展加载</a:t>
            </a:r>
          </a:p>
        </p:txBody>
      </p:sp>
    </p:spTree>
    <p:extLst>
      <p:ext uri="{BB962C8B-B14F-4D97-AF65-F5344CB8AC3E}">
        <p14:creationId xmlns:p14="http://schemas.microsoft.com/office/powerpoint/2010/main" val="23410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AED482B-BB05-43A0-B981-122EDD1874E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57"/>
          </a:bodyPr>
          <a:lstStyle>
            <a:defPPr algn="l"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已验证的交付与仍待完成的检查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B71444-7ED0-482C-8FCC-C1075D146504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37"/>
          </a:bodyPr>
          <a:lstStyle>
            <a:defPPr algn="l"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区分服务可用性、代码测试和真机体验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CAED04-F28B-4BF8-A9B7-56D03E291B46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896600" cy="0"/>
          </a:xfrm>
          <a:prstGeom prst="line">
            <a:avLst/>
          </a:prstGeom>
          <a:noFill/>
          <a:ln w="9525">
            <a:solidFill>
              <a:srgbClr val="D5DFE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033634-2CEC-4A69-8987-73E0750D10C1}"/>
              </a:ext>
            </a:extLst>
          </p:cNvPr>
          <p:cNvSpPr>
            <a:spLocks noGrp="1"/>
          </p:cNvSpPr>
          <p:nvPr/>
        </p:nvSpPr>
        <p:spPr>
          <a:xfrm>
            <a:off x="647700" y="6419850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885"/>
          </a:bodyPr>
          <a:lstStyle>
            <a:defPPr algn="r"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12000"/>
              </a:lnSpc>
              <a:buNone/>
              <a:def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知径 DB   ·   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0BAD0D-4980-4DB3-B626-7936418FA1DD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7D82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C4C3A9-2FB4-4CC3-AB9C-A65CC73C7DCD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Web 地址返回 HTTP 200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144207-362E-426D-9C4E-F61DEFE050B1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API 健康检查返回 HTTP 200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0413AD-3223-4860-A20D-F16D0BEF0D09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EAS Android preview 构建完成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1922CD-0581-4797-B380-5D12C2CE3A85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4810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l"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481"/>
                </a:solidFill>
                <a:latin typeface="Microsoft YaHei"/>
                <a:ea typeface="Microsoft YaHei"/>
                <a:cs typeface="Microsoft YaHei"/>
              </a:rPr>
              <a:t>最近记录：16 项测试与 Expo Doctor 21 项检查通过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87261937-751F-4631-A891-2795763D515C}"/>
              </a:ext>
            </a:extLst>
          </p:cNvPr>
          <p:cNvSpPr>
            <a:spLocks noGrp="1"/>
          </p:cNvSpPr>
          <p:nvPr/>
        </p:nvSpPr>
        <p:spPr>
          <a:xfrm>
            <a:off x="6162675" y="1924050"/>
            <a:ext cx="0" cy="3105150"/>
          </a:xfrm>
          <a:prstGeom prst="line">
            <a:avLst/>
          </a:prstGeom>
          <a:noFill/>
          <a:ln w="19050">
            <a:solidFill>
              <a:srgbClr val="D5DFE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1FF265-9F87-48FF-8B91-0418C4960E29}"/>
              </a:ext>
            </a:extLst>
          </p:cNvPr>
          <p:cNvSpPr>
            <a:spLocks noGrp="1"/>
          </p:cNvSpPr>
          <p:nvPr/>
        </p:nvSpPr>
        <p:spPr>
          <a:xfrm>
            <a:off x="6705600" y="19812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166"/>
          </a:bodyPr>
          <a:lstStyle>
            <a:defPPr algn="l">
              <a:defRPr sz="2325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D75A8"/>
                </a:solidFill>
                <a:latin typeface="Microsoft YaHei"/>
                <a:ea typeface="Microsoft YaHei"/>
                <a:cs typeface="Microsoft YaHei"/>
              </a:rPr>
              <a:t>待完成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196BFA-CE86-4332-BDE5-B3C62839241C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Android 真机安装与移动网络流程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6F6AB4-25AD-4B72-A86C-7316BB795D32}"/>
              </a:ext>
            </a:extLst>
          </p:cNvPr>
          <p:cNvSpPr>
            <a:spLocks noGrp="1"/>
          </p:cNvSpPr>
          <p:nvPr/>
        </p:nvSpPr>
        <p:spPr>
          <a:xfrm>
            <a:off x="6705600" y="299085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无缓存 Web 的完整交互逐项验收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E85FCA-08C8-4CBF-9A3E-FF5CF3275607}"/>
              </a:ext>
            </a:extLst>
          </p:cNvPr>
          <p:cNvSpPr>
            <a:spLocks noGrp="1"/>
          </p:cNvSpPr>
          <p:nvPr/>
        </p:nvSpPr>
        <p:spPr>
          <a:xfrm>
            <a:off x="6705600" y="340995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真实用户前测、后测与体验问卷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6B2EB7-2986-4DBD-978C-5E0029EF415C}"/>
              </a:ext>
            </a:extLst>
          </p:cNvPr>
          <p:cNvSpPr>
            <a:spLocks noGrp="1"/>
          </p:cNvSpPr>
          <p:nvPr/>
        </p:nvSpPr>
        <p:spPr>
          <a:xfrm>
            <a:off x="6705600" y="3829050"/>
            <a:ext cx="445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451"/>
          </a:bodyPr>
          <a:lstStyle>
            <a:defPPr algn="l"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303C"/>
                </a:solidFill>
                <a:latin typeface="Microsoft YaHei"/>
                <a:ea typeface="Microsoft YaHei"/>
                <a:cs typeface="Microsoft YaHei"/>
              </a:rPr>
              <a:t>生产数据持久化与进程重启验证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DC4E9B-F6F5-44B5-96D6-7A9B1C379612}"/>
              </a:ext>
            </a:extLst>
          </p:cNvPr>
          <p:cNvSpPr>
            <a:spLocks noGrp="1"/>
          </p:cNvSpPr>
          <p:nvPr/>
        </p:nvSpPr>
        <p:spPr>
          <a:xfrm>
            <a:off x="1085850" y="5391150"/>
            <a:ext cx="10144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>
            <a:defPPr algn="ctr">
              <a:defRPr sz="13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12000"/>
              </a:lnSpc>
              <a:buNone/>
              <a:defRPr sz="13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24B"/>
                </a:solidFill>
                <a:latin typeface="Microsoft YaHei"/>
                <a:ea typeface="Microsoft YaHei"/>
                <a:cs typeface="Microsoft YaHei"/>
              </a:rPr>
              <a:t>APK 证书和包名来自 EAS 构建元数据；本机没有 adb，未做设备安装验证。</a:t>
            </a:r>
          </a:p>
        </p:txBody>
      </p:sp>
    </p:spTree>
    <p:extLst>
      <p:ext uri="{BB962C8B-B14F-4D97-AF65-F5344CB8AC3E}">
        <p14:creationId xmlns:p14="http://schemas.microsoft.com/office/powerpoint/2010/main" val="5372007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DocSecurity>0</DocSecurity>
  <PresentationFormat>宽屏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蒙 y</cp:lastModifiedBy>
  <cp:revision>1</cp:revision>
  <dcterms:created xsi:type="dcterms:W3CDTF">2026-10-02T08:34:04Z</dcterms:created>
  <dcterms:modified xsi:type="dcterms:W3CDTF">2026-10-10T04:44:26Z</dcterms:modified>
</cp:coreProperties>
</file>