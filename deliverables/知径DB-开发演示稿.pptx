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396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60350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项目开发演示  /  2026.10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5943600" cy="10789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300" b="1">
                <a:solidFill>
                  <a:srgbClr val="F4F7FF"/>
                </a:solidFill>
                <a:latin typeface="Microsoft YaHei"/>
              </a:rPr>
              <a:t>知径 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404872"/>
            <a:ext cx="594360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500" b="1">
                <a:solidFill>
                  <a:srgbClr val="F4F7FF"/>
                </a:solidFill>
                <a:latin typeface="Microsoft YaHei"/>
              </a:rPr>
              <a:t>让数据库学习路径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500" b="1">
                <a:solidFill>
                  <a:srgbClr val="F4F7FF"/>
                </a:solidFill>
                <a:latin typeface="Microsoft YaHei"/>
              </a:rPr>
              <a:t>跟着学习证据走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5303520" cy="6949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A8B5D2"/>
                </a:solidFill>
                <a:latin typeface="Microsoft YaHei"/>
              </a:rPr>
              <a:t>面向《数据库原理》的多智能体个性化学习系统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A8B5D2"/>
                </a:solidFill>
                <a:latin typeface="Microsoft YaHei"/>
              </a:rPr>
              <a:t>Web 与 Android · 45 个知识节点 · SQL 安全实验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5166360"/>
            <a:ext cx="1920240" cy="402336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374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30368"/>
            <a:ext cx="169164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最终验收版 v8</a:t>
            </a:r>
          </a:p>
        </p:txBody>
      </p:sp>
      <p:pic>
        <p:nvPicPr>
          <p:cNvPr id="9" name="Picture 8" descr="zhijing-v8-home-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105" y="411480"/>
            <a:ext cx="2650732" cy="5897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44968" y="320040"/>
            <a:ext cx="3493008" cy="6080760"/>
          </a:xfrm>
          <a:prstGeom prst="roundRect">
            <a:avLst>
              <a:gd name="adj" fmla="val 8000"/>
            </a:avLst>
          </a:prstGeom>
          <a:solidFill>
            <a:srgbClr val="312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zhijing-v8-home-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105" y="411480"/>
            <a:ext cx="2650732" cy="5897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309360"/>
            <a:ext cx="45720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项目开发演示稿  ·  2026 年 10 月 10 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28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6565392"/>
            <a:ext cx="6217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知径 DB  ·  数据库原理个性化学习系统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547104"/>
            <a:ext cx="5943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315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60A5FA"/>
                </a:solidFill>
                <a:latin typeface="Microsoft YaHei"/>
              </a:rPr>
              <a:t>01  产品定位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F4F7FF"/>
                </a:solidFill>
                <a:latin typeface="Microsoft YaHei"/>
              </a:rPr>
              <a:t>三类学习者，从不同知识断点出发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以校园选课数据库贯穿课程，把学习目标、掌握证据和推荐内容放在同一条路径上。</a:t>
            </a:r>
          </a:p>
        </p:txBody>
      </p:sp>
      <p:pic>
        <p:nvPicPr>
          <p:cNvPr id="6" name="Picture 5" descr="zhijing-v8-foun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702" y="1755648"/>
            <a:ext cx="1767155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5733288"/>
            <a:ext cx="29718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60A5FA"/>
                </a:solidFill>
                <a:latin typeface="Microsoft YaHei"/>
              </a:rPr>
              <a:t>基础薄弱型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6007608"/>
            <a:ext cx="2971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关系模型与基础查询  ·  首推关系模型基础</a:t>
            </a:r>
          </a:p>
        </p:txBody>
      </p:sp>
      <p:pic>
        <p:nvPicPr>
          <p:cNvPr id="9" name="Picture 8" descr="zhijing-v8-ex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606" y="1755648"/>
            <a:ext cx="1767155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53712" y="5733288"/>
            <a:ext cx="29718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BBF24"/>
                </a:solidFill>
                <a:latin typeface="Microsoft YaHei"/>
              </a:rPr>
              <a:t>应试巩固型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6007608"/>
            <a:ext cx="2971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规范化与易错题  ·  首推第三范式与 BCNF</a:t>
            </a:r>
          </a:p>
        </p:txBody>
      </p:sp>
      <p:pic>
        <p:nvPicPr>
          <p:cNvPr id="12" name="Picture 11" descr="zhijing-v8-pract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4510" y="1755648"/>
            <a:ext cx="1767155" cy="3931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57616" y="5733288"/>
            <a:ext cx="29718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34D399"/>
                </a:solidFill>
                <a:latin typeface="Microsoft YaHei"/>
              </a:rPr>
              <a:t>实践导向型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7616" y="6007608"/>
            <a:ext cx="2971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事务、索引与优化  ·  首推复合索引实操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28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6565392"/>
            <a:ext cx="6217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知径 DB  ·  数据库原理个性化学习系统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547104"/>
            <a:ext cx="5943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315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60A5FA"/>
                </a:solidFill>
                <a:latin typeface="Microsoft YaHei"/>
              </a:rPr>
              <a:t>02  学习闭环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F4F7FF"/>
                </a:solidFill>
                <a:latin typeface="Microsoft YaHei"/>
              </a:rPr>
              <a:t>推荐路径由画像和证据共同决定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诊断用于更新演示画像中的知识掌握度；路径算法遵循课程前置关系，再匹配学习资源。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251460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C3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2660904"/>
            <a:ext cx="5029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60A5FA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999232"/>
            <a:ext cx="15087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F4F7FF"/>
                </a:solidFill>
                <a:latin typeface="Microsoft YaHei"/>
              </a:rPr>
              <a:t>学习画像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401568"/>
            <a:ext cx="1508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八个维度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51176" y="3127248"/>
            <a:ext cx="384048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hevron 10"/>
          <p:cNvSpPr/>
          <p:nvPr/>
        </p:nvSpPr>
        <p:spPr>
          <a:xfrm>
            <a:off x="2843784" y="3026664"/>
            <a:ext cx="146304" cy="228600"/>
          </a:xfrm>
          <a:prstGeom prst="chevron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26663" y="251460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C3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72968" y="2660904"/>
            <a:ext cx="5029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2968" y="2999232"/>
            <a:ext cx="15087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F4F7FF"/>
                </a:solidFill>
                <a:latin typeface="Microsoft YaHei"/>
              </a:rPr>
              <a:t>诊断证据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3401568"/>
            <a:ext cx="1508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正确率与信心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82896" y="3127248"/>
            <a:ext cx="384048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hevron 16"/>
          <p:cNvSpPr/>
          <p:nvPr/>
        </p:nvSpPr>
        <p:spPr>
          <a:xfrm>
            <a:off x="5175504" y="3026664"/>
            <a:ext cx="146304" cy="228600"/>
          </a:xfrm>
          <a:prstGeom prst="chevron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358383" y="251460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C3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04688" y="2660904"/>
            <a:ext cx="5029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34D399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4688" y="2999232"/>
            <a:ext cx="15087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F4F7FF"/>
                </a:solidFill>
                <a:latin typeface="Microsoft YaHei"/>
              </a:rPr>
              <a:t>学习路径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4688" y="3401568"/>
            <a:ext cx="1508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掌握度 + 前置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14615" y="3127248"/>
            <a:ext cx="384048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hevron 22"/>
          <p:cNvSpPr/>
          <p:nvPr/>
        </p:nvSpPr>
        <p:spPr>
          <a:xfrm>
            <a:off x="7507223" y="3026664"/>
            <a:ext cx="146304" cy="228600"/>
          </a:xfrm>
          <a:prstGeom prst="chevron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690104" y="251460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C3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36408" y="2660904"/>
            <a:ext cx="5029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BBF24"/>
                </a:solidFill>
                <a:latin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2999232"/>
            <a:ext cx="15087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F4F7FF"/>
                </a:solidFill>
                <a:latin typeface="Microsoft YaHei"/>
              </a:rPr>
              <a:t>学习资源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6408" y="3401568"/>
            <a:ext cx="1508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六类内容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46336" y="3127248"/>
            <a:ext cx="384048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hevron 28"/>
          <p:cNvSpPr/>
          <p:nvPr/>
        </p:nvSpPr>
        <p:spPr>
          <a:xfrm>
            <a:off x="9838944" y="3026664"/>
            <a:ext cx="146304" cy="228600"/>
          </a:xfrm>
          <a:prstGeom prst="chevron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021824" y="251460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C3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68128" y="2660904"/>
            <a:ext cx="5029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B7185"/>
                </a:solidFill>
                <a:latin typeface="Microsoft YaHe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68128" y="2999232"/>
            <a:ext cx="15087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F4F7FF"/>
                </a:solidFill>
                <a:latin typeface="Microsoft YaHei"/>
              </a:rPr>
              <a:t>效果回写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68128" y="3401568"/>
            <a:ext cx="1508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画像与路径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645152"/>
            <a:ext cx="10515600" cy="749808"/>
          </a:xfrm>
          <a:prstGeom prst="roundRect">
            <a:avLst>
              <a:gd name="adj" fmla="val 8000"/>
            </a:avLst>
          </a:prstGeom>
          <a:solidFill>
            <a:srgbClr val="0F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97280" y="4800600"/>
            <a:ext cx="9966960" cy="3383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4F7FF"/>
                </a:solidFill>
                <a:latin typeface="Microsoft YaHei"/>
              </a:rPr>
              <a:t>新掌握度 = 70% × 旧掌握度 + 30% × 本次证据分     |     &lt;60 补救    60–79 巩固    ≥80 掌握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28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8" y="6565392"/>
            <a:ext cx="6217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知径 DB  ·  数据库原理个性化学习系统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547104"/>
            <a:ext cx="5943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315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60A5FA"/>
                </a:solidFill>
                <a:latin typeface="Microsoft YaHei"/>
              </a:rPr>
              <a:t>03  个性化路径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F4F7FF"/>
                </a:solidFill>
                <a:latin typeface="Microsoft YaHei"/>
              </a:rPr>
              <a:t>同一门课，首推知识点各不相同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45 个节点有明确学习目标、难度、关键词、课程来源和前置节点；路径最多展示 8 步。</a:t>
            </a:r>
          </a:p>
        </p:txBody>
      </p:sp>
      <p:pic>
        <p:nvPicPr>
          <p:cNvPr id="6" name="Picture 5" descr="zhijing-v8-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151" y="1737360"/>
            <a:ext cx="1980857" cy="44074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4672" y="1938528"/>
            <a:ext cx="64008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9264" y="1929384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4F7FF"/>
                </a:solidFill>
                <a:latin typeface="Microsoft YaHei"/>
              </a:rPr>
              <a:t>当前真机示例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630936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F4F7FF"/>
                </a:solidFill>
                <a:latin typeface="Microsoft YaHei"/>
              </a:rPr>
              <a:t>practice → 复合、覆盖与唯一索引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18688"/>
            <a:ext cx="63093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FB7185"/>
                </a:solidFill>
                <a:latin typeface="Microsoft YaHei"/>
              </a:rPr>
              <a:t>掌握度 48%  </a:t>
            </a:r>
            <a:r>
              <a:rPr sz="1500">
                <a:solidFill>
                  <a:srgbClr val="F4F7FF"/>
                </a:solidFill>
                <a:latin typeface="Microsoft YaHei"/>
              </a:rPr>
              <a:t>优先补足当前低掌握节点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85615"/>
            <a:ext cx="63093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60A5FA"/>
                </a:solidFill>
                <a:latin typeface="Microsoft YaHei"/>
              </a:rPr>
              <a:t>路径约束  </a:t>
            </a:r>
            <a:r>
              <a:rPr sz="1500">
                <a:solidFill>
                  <a:srgbClr val="F4F7FF"/>
                </a:solidFill>
                <a:latin typeface="Microsoft YaHei"/>
              </a:rPr>
              <a:t>先修节点未掌握时，递归补入前置知识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52544"/>
            <a:ext cx="63093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34D399"/>
                </a:solidFill>
                <a:latin typeface="Microsoft YaHei"/>
              </a:rPr>
              <a:t>推荐理由  </a:t>
            </a:r>
            <a:r>
              <a:rPr sz="1500">
                <a:solidFill>
                  <a:srgbClr val="F4F7FF"/>
                </a:solidFill>
                <a:latin typeface="Microsoft YaHei"/>
              </a:rPr>
              <a:t>实践偏好优先关联 SQL 实操与索引主题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93792"/>
            <a:ext cx="6400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8B5D2"/>
                </a:solidFill>
                <a:latin typeface="Microsoft YaHei"/>
              </a:rPr>
              <a:t>foundation 首推关系模型（66%）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8B5D2"/>
                </a:solidFill>
                <a:latin typeface="Microsoft YaHei"/>
              </a:rPr>
              <a:t>exam 首推第三范式与 BCNF（46%）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28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6565392"/>
            <a:ext cx="6217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知径 DB  ·  数据库原理个性化学习系统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547104"/>
            <a:ext cx="5943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315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60A5FA"/>
                </a:solidFill>
                <a:latin typeface="Microsoft YaHei"/>
              </a:rPr>
              <a:t>04  课程图谱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F4F7FF"/>
                </a:solidFill>
                <a:latin typeface="Microsoft YaHei"/>
              </a:rPr>
              <a:t>九个模块覆盖数据库原理主干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前置关系参与路径排序；节点和来源元数据维护在 course-data 共享包中。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82296" cy="3200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2416" y="1819656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4F7FF"/>
                </a:solidFill>
                <a:latin typeface="Microsoft YaHei"/>
              </a:rPr>
              <a:t>数据库基础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828800"/>
            <a:ext cx="502920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节点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87168"/>
            <a:ext cx="82296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6" y="2478024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4F7FF"/>
                </a:solidFill>
                <a:latin typeface="Microsoft YaHei"/>
              </a:rPr>
              <a:t>关系模型 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487168"/>
            <a:ext cx="502920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节点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45536"/>
            <a:ext cx="82296" cy="3200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42416" y="3136392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4F7FF"/>
                </a:solidFill>
                <a:latin typeface="Microsoft YaHei"/>
              </a:rPr>
              <a:t>SQL 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3145536"/>
            <a:ext cx="502920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节点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03904"/>
            <a:ext cx="82296" cy="3200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2416" y="3794760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4F7FF"/>
                </a:solidFill>
                <a:latin typeface="Microsoft YaHei"/>
              </a:rPr>
              <a:t>概念与逻辑设计 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803904"/>
            <a:ext cx="502920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节点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462272"/>
            <a:ext cx="82296" cy="32004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2416" y="4453128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4F7FF"/>
                </a:solidFill>
                <a:latin typeface="Microsoft YaHei"/>
              </a:rPr>
              <a:t>函数依赖与规范化 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462272"/>
            <a:ext cx="502920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节点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1828800"/>
            <a:ext cx="82296" cy="3200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11496" y="1819656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4F7FF"/>
                </a:solidFill>
                <a:latin typeface="Microsoft YaHei"/>
              </a:rPr>
              <a:t>事务与并发 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828800"/>
            <a:ext cx="502920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节点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2487168"/>
            <a:ext cx="82296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11496" y="2478024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4F7FF"/>
                </a:solidFill>
                <a:latin typeface="Microsoft YaHei"/>
              </a:rPr>
              <a:t>数据库恢复 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487168"/>
            <a:ext cx="502920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节点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3145536"/>
            <a:ext cx="82296" cy="3200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11496" y="3136392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4F7FF"/>
                </a:solidFill>
                <a:latin typeface="Microsoft YaHei"/>
              </a:rPr>
              <a:t>存储、索引与优化 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145536"/>
            <a:ext cx="502920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节点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92040" y="3803904"/>
            <a:ext cx="82296" cy="3200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11496" y="3794760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4F7FF"/>
                </a:solidFill>
                <a:latin typeface="Microsoft YaHei"/>
              </a:rPr>
              <a:t>安全与完整性 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803904"/>
            <a:ext cx="502920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节点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14816" y="1847088"/>
            <a:ext cx="2286000" cy="3520440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31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52560" y="2148840"/>
            <a:ext cx="18288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3200" b="1">
                <a:solidFill>
                  <a:srgbClr val="60A5FA"/>
                </a:solidFill>
                <a:latin typeface="Microsoft YaHei"/>
              </a:rPr>
              <a:t>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2798064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4F7FF"/>
                </a:solidFill>
                <a:latin typeface="Microsoft YaHei"/>
              </a:rPr>
              <a:t>知识节点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62872" y="3273552"/>
            <a:ext cx="1371600" cy="16459"/>
          </a:xfrm>
          <a:prstGeom prst="rect">
            <a:avLst/>
          </a:prstGeom>
          <a:solidFill>
            <a:srgbClr val="3D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052560" y="3502152"/>
            <a:ext cx="1828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4F7FF"/>
                </a:solidFill>
                <a:latin typeface="Microsoft YaHei"/>
              </a:rPr>
              <a:t>9 个课程模块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160520"/>
            <a:ext cx="182880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前置依赖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来源编号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关键词与难度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596128"/>
            <a:ext cx="71323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节点详情与前置引用可在项目课程数据中直接核对。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28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6928" y="6565392"/>
            <a:ext cx="6217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知径 DB  ·  数据库原理个性化学习系统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27080" y="6547104"/>
            <a:ext cx="5943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315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60A5FA"/>
                </a:solidFill>
                <a:latin typeface="Microsoft YaHei"/>
              </a:rPr>
              <a:t>05  学习资源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F4F7FF"/>
                </a:solidFill>
                <a:latin typeface="Microsoft YaHei"/>
              </a:rPr>
              <a:t>六类资源围绕具体知识点生成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DeepSeek 为生产环境可选模型；输出先做 JSON 结构校验，调用异常时返回确定性内容。</a:t>
            </a:r>
          </a:p>
        </p:txBody>
      </p:sp>
      <p:pic>
        <p:nvPicPr>
          <p:cNvPr id="6" name="Picture 5" descr="android-resourc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5856" y="1755648"/>
            <a:ext cx="1984967" cy="44165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847088"/>
            <a:ext cx="3154680" cy="786384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276148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60A5FA"/>
                </a:solidFill>
                <a:latin typeface="Microsoft YaHei"/>
              </a:rPr>
              <a:t>讲解文档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76148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A8B5D2"/>
                </a:solidFill>
                <a:latin typeface="Microsoft YaHei"/>
              </a:rPr>
              <a:t>概念、例子与自检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47088"/>
            <a:ext cx="3154680" cy="786384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965960"/>
            <a:ext cx="276148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8B5CF6"/>
                </a:solidFill>
                <a:latin typeface="Microsoft YaHei"/>
              </a:rPr>
              <a:t>知识图解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286000"/>
            <a:ext cx="276148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A8B5D2"/>
                </a:solidFill>
                <a:latin typeface="Microsoft YaHei"/>
              </a:rPr>
              <a:t>结构与前置关系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07791"/>
            <a:ext cx="3154680" cy="786384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026663"/>
            <a:ext cx="276148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BBF24"/>
                </a:solidFill>
                <a:latin typeface="Microsoft YaHei"/>
              </a:rPr>
              <a:t>分层练习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46703"/>
            <a:ext cx="276148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A8B5D2"/>
                </a:solidFill>
                <a:latin typeface="Microsoft YaHei"/>
              </a:rPr>
              <a:t>含答案和解析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907791"/>
            <a:ext cx="3154680" cy="786384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3026663"/>
            <a:ext cx="276148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34D399"/>
                </a:solidFill>
                <a:latin typeface="Microsoft YaHei"/>
              </a:rPr>
              <a:t>SQL 实操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346703"/>
            <a:ext cx="276148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A8B5D2"/>
                </a:solidFill>
                <a:latin typeface="Microsoft YaHei"/>
              </a:rPr>
              <a:t>可运行的练习任务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68496"/>
            <a:ext cx="3154680" cy="786384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087368"/>
            <a:ext cx="276148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B7185"/>
                </a:solidFill>
                <a:latin typeface="Microsoft YaHei"/>
              </a:rPr>
              <a:t>交互图解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407408"/>
            <a:ext cx="276148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A8B5D2"/>
                </a:solidFill>
                <a:latin typeface="Microsoft YaHei"/>
              </a:rPr>
              <a:t>按步骤观察变化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968496"/>
            <a:ext cx="3154680" cy="786384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26280" y="4087368"/>
            <a:ext cx="276148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60A5FA"/>
                </a:solidFill>
                <a:latin typeface="Microsoft YaHei"/>
              </a:rPr>
              <a:t>复习卡片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407408"/>
            <a:ext cx="276148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A8B5D2"/>
                </a:solidFill>
                <a:latin typeface="Microsoft YaHei"/>
              </a:rPr>
              <a:t>定义、易错点和自测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658368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ReviewAgent 当前写入审核状态。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其代码尚未独立核验生成内容的事实准确性。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28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6565392"/>
            <a:ext cx="6217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知径 DB  ·  数据库原理个性化学习系统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547104"/>
            <a:ext cx="5943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315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60A5FA"/>
                </a:solidFill>
                <a:latin typeface="Microsoft YaHei"/>
              </a:rPr>
              <a:t>06  课程辅导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F4F7FF"/>
                </a:solidFill>
                <a:latin typeface="Microsoft YaHei"/>
              </a:rPr>
              <a:t>TutorAgent 先找课程证据，再组织回答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检索来自课程图谱的节点标题、目标和来源元数据；未匹配到课程证据时明确拒答。</a:t>
            </a:r>
          </a:p>
        </p:txBody>
      </p:sp>
      <p:pic>
        <p:nvPicPr>
          <p:cNvPr id="6" name="Picture 5" descr="android-tutor-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8612" y="1737360"/>
            <a:ext cx="2013734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" y="1920240"/>
            <a:ext cx="64008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11096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4F7FF"/>
                </a:solidFill>
                <a:latin typeface="Microsoft YaHei"/>
              </a:rPr>
              <a:t>现场可演示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9152"/>
            <a:ext cx="676656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F4F7FF"/>
                </a:solidFill>
                <a:latin typeface="Microsoft YaHei"/>
              </a:rPr>
              <a:t>输入“candidate key”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F4F7FF"/>
                </a:solidFill>
                <a:latin typeface="Microsoft YaHei"/>
              </a:rPr>
              <a:t>得到候选键解释与课程引用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01568"/>
            <a:ext cx="66751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60A5FA"/>
                </a:solidFill>
                <a:latin typeface="Microsoft YaHei"/>
              </a:rPr>
              <a:t>检索  </a:t>
            </a:r>
            <a:r>
              <a:rPr sz="1400">
                <a:solidFill>
                  <a:srgbClr val="F4F7FF"/>
                </a:solidFill>
                <a:latin typeface="Microsoft YaHei"/>
              </a:rPr>
              <a:t>课程节点标题、关键词与英文别名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68496"/>
            <a:ext cx="66751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34D399"/>
                </a:solidFill>
                <a:latin typeface="Microsoft YaHei"/>
              </a:rPr>
              <a:t>生成  </a:t>
            </a:r>
            <a:r>
              <a:rPr sz="1400">
                <a:solidFill>
                  <a:srgbClr val="F4F7FF"/>
                </a:solidFill>
                <a:latin typeface="Microsoft YaHei"/>
              </a:rPr>
              <a:t>DeepSeek 可用时生成回答；否则使用课程证据降级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35424"/>
            <a:ext cx="66751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FBBF24"/>
                </a:solidFill>
                <a:latin typeface="Microsoft YaHei"/>
              </a:rPr>
              <a:t>边界  </a:t>
            </a:r>
            <a:r>
              <a:rPr sz="1400">
                <a:solidFill>
                  <a:srgbClr val="F4F7FF"/>
                </a:solidFill>
                <a:latin typeface="Microsoft YaHei"/>
              </a:rPr>
              <a:t>课程范围外问题返回明确拒答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349240"/>
            <a:ext cx="66751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示例问题：事务的四大特性 / third normal form / candidate key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28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6565392"/>
            <a:ext cx="6217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知径 DB  ·  数据库原理个性化学习系统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547104"/>
            <a:ext cx="5943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315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60A5FA"/>
                </a:solidFill>
                <a:latin typeface="Microsoft YaHei"/>
              </a:rPr>
              <a:t>07  SQL 安全实验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F4F7FF"/>
                </a:solidFill>
                <a:latin typeface="Microsoft YaHei"/>
              </a:rPr>
              <a:t>教学查询在独立 Worker 中执行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每次运行创建内存校园选课库，执行后销毁；实验模式允许受限写操作，查询模式仅允许读取。</a:t>
            </a:r>
          </a:p>
        </p:txBody>
      </p:sp>
      <p:pic>
        <p:nvPicPr>
          <p:cNvPr id="6" name="Picture 5" descr="SQL查询成功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161" y="1783080"/>
            <a:ext cx="1623316" cy="3611880"/>
          </a:xfrm>
          <a:prstGeom prst="rect">
            <a:avLst/>
          </a:prstGeom>
        </p:spPr>
      </p:pic>
      <p:pic>
        <p:nvPicPr>
          <p:cNvPr id="7" name="Picture 6" descr="SQL危险语句拦截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041" y="1783080"/>
            <a:ext cx="1623316" cy="3611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24128" y="5513832"/>
            <a:ext cx="420624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Microsoft YaHei"/>
              </a:rPr>
              <a:t>三表联查返回 3 行  ·  sql.js-worker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5513832"/>
            <a:ext cx="420624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B7185"/>
                </a:solidFill>
                <a:latin typeface="Microsoft YaHei"/>
              </a:rPr>
              <a:t>ATTACH DATABASE 被安全规则拦截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28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6565392"/>
            <a:ext cx="6217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知径 DB  ·  数据库原理个性化学习系统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547104"/>
            <a:ext cx="5943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315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60A5FA"/>
                </a:solidFill>
                <a:latin typeface="Microsoft YaHei"/>
              </a:rPr>
              <a:t>08  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F4F7FF"/>
                </a:solidFill>
                <a:latin typeface="Microsoft YaHei"/>
              </a:rPr>
              <a:t>客户端、API 与教学沙箱分层运行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共享 Expo / React Native 客户端；业务 API 与 SQL 沙箱分开处理。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240280"/>
            <a:ext cx="2304288" cy="2212848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2240280"/>
            <a:ext cx="2304288" cy="640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514600"/>
            <a:ext cx="202996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4F7FF"/>
                </a:solidFill>
                <a:latin typeface="Microsoft YaHei"/>
              </a:rPr>
              <a:t>客户端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063240"/>
            <a:ext cx="2029968" cy="10424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Expo Router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React Native Web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Android APK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240280"/>
            <a:ext cx="2304288" cy="2212848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02152" y="2240280"/>
            <a:ext cx="230428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9312" y="2514600"/>
            <a:ext cx="202996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4F7FF"/>
                </a:solidFill>
                <a:latin typeface="Microsoft YaHei"/>
              </a:rPr>
              <a:t>服务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3063240"/>
            <a:ext cx="2029968" cy="10424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Hono + Zod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认证 / 课程 / Tutor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资源与诊断路由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2240280"/>
            <a:ext cx="2304288" cy="2212848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82512" y="2240280"/>
            <a:ext cx="2304288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9672" y="2514600"/>
            <a:ext cx="202996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4F7FF"/>
                </a:solidFill>
                <a:latin typeface="Microsoft YaHei"/>
              </a:rPr>
              <a:t>课程与工作流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063240"/>
            <a:ext cx="2029968" cy="10424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LangGraph 状态图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45 节点课程数据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DeepSeek 可选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62872" y="2240280"/>
            <a:ext cx="2304288" cy="2212848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62872" y="2240280"/>
            <a:ext cx="2304288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00032" y="2514600"/>
            <a:ext cx="202996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4F7FF"/>
                </a:solidFill>
                <a:latin typeface="Microsoft YaHei"/>
              </a:rPr>
              <a:t>隔离 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3063240"/>
            <a:ext cx="2029968" cy="10424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sql.js Worker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单语句 / 2 秒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最多返回 200 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3310128"/>
            <a:ext cx="384048" cy="3200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97880" y="3310128"/>
            <a:ext cx="384048" cy="3200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778240" y="3310128"/>
            <a:ext cx="384048" cy="3200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992624"/>
            <a:ext cx="105156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4F7FF"/>
                </a:solidFill>
                <a:latin typeface="Microsoft YaHei"/>
              </a:rPr>
              <a:t>部署：Railway API  +  Vercel Web  +  EAS Android preview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23560"/>
            <a:ext cx="105156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FBBF24"/>
                </a:solidFill>
                <a:latin typeface="Microsoft YaHei"/>
              </a:rPr>
              <a:t>当前生产 API 未设置 DATABASE_URL，画像与资源保存在进程内存，服务重启后不保证保留。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28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6565392"/>
            <a:ext cx="6217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知径 DB  ·  数据库原理个性化学习系统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27080" y="6547104"/>
            <a:ext cx="5943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315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60A5FA"/>
                </a:solidFill>
                <a:latin typeface="Microsoft YaHei"/>
              </a:rPr>
              <a:t>09  可靠性与边界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F4F7FF"/>
                </a:solidFill>
                <a:latin typeface="Microsoft YaHei"/>
              </a:rPr>
              <a:t>关键能力可以降级，风险边界保持清楚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交付聚焦可复现的课程演示；自动化验收不能代替长期运行与教学效果研究。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3154680" cy="3154680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2416" y="2359152"/>
            <a:ext cx="27432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60A5FA"/>
                </a:solidFill>
                <a:latin typeface="Microsoft YaHei"/>
              </a:rPr>
              <a:t>模型调用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3035808"/>
            <a:ext cx="2724912" cy="1783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F4F7FF"/>
                </a:solidFill>
                <a:latin typeface="Microsoft YaHei"/>
              </a:rPr>
              <a:t>• 服务端保存 API Key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F4F7FF"/>
                </a:solidFill>
                <a:latin typeface="Microsoft YaHei"/>
              </a:rPr>
              <a:t>• 结构化 JSON 校验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F4F7FF"/>
                </a:solidFill>
                <a:latin typeface="Microsoft YaHei"/>
              </a:rPr>
              <a:t>• 调用超时或异常时返回确定性内容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2057400"/>
            <a:ext cx="3154680" cy="3154680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8" y="2359152"/>
            <a:ext cx="27432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34D399"/>
                </a:solidFill>
                <a:latin typeface="Microsoft YaHei"/>
              </a:rPr>
              <a:t>SQL 沙箱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3035808"/>
            <a:ext cx="2724912" cy="1783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F4F7FF"/>
                </a:solidFill>
                <a:latin typeface="Microsoft YaHei"/>
              </a:rPr>
              <a:t>• 不连接业务 PostgreSQL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F4F7FF"/>
                </a:solidFill>
                <a:latin typeface="Microsoft YaHei"/>
              </a:rPr>
              <a:t>• 阻止 ATTACH / PRAGMA 等语句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F4F7FF"/>
                </a:solidFill>
                <a:latin typeface="Microsoft YaHei"/>
              </a:rPr>
              <a:t>• 限制语句数、时长与返回行数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2057400"/>
            <a:ext cx="3154680" cy="3154680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2359152"/>
            <a:ext cx="27432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FBBF24"/>
                </a:solidFill>
                <a:latin typeface="Microsoft YaHei"/>
              </a:rPr>
              <a:t>数据与审核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035808"/>
            <a:ext cx="2724912" cy="1783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F4F7FF"/>
                </a:solidFill>
                <a:latin typeface="Microsoft YaHei"/>
              </a:rPr>
              <a:t>• 演示画像为虚构数据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F4F7FF"/>
                </a:solidFill>
                <a:latin typeface="Microsoft YaHei"/>
              </a:rPr>
              <a:t>• 生产状态使用进程内存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F4F7FF"/>
                </a:solidFill>
                <a:latin typeface="Microsoft YaHei"/>
              </a:rPr>
              <a:t>• ReviewAgent 目前只记录流程状态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05272"/>
            <a:ext cx="1060704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未纳入本次已验证范围：PostgreSQL 持久化、真实用户前后测与学习增益评估。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28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6565392"/>
            <a:ext cx="6217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知径 DB  ·  数据库原理个性化学习系统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547104"/>
            <a:ext cx="5943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10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495</Words>
  <Application>Microsoft Office PowerPoint</Application>
  <PresentationFormat>宽屏</PresentationFormat>
  <Paragraphs>163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蒙 y</cp:lastModifiedBy>
  <cp:revision>2</cp:revision>
  <dcterms:created xsi:type="dcterms:W3CDTF">2013-01-27T09:14:16Z</dcterms:created>
  <dcterms:modified xsi:type="dcterms:W3CDTF">2026-10-10T05:43:17Z</dcterms:modified>
  <cp:category/>
</cp:coreProperties>
</file>